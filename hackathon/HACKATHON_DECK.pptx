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1055"/>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058400" cy="1371600"/>
          </a:xfrm>
          <a:prstGeom prst="rect">
            <a:avLst/>
          </a:prstGeom>
          <a:noFill/>
        </p:spPr>
        <p:txBody>
          <a:bodyPr wrap="square">
            <a:spAutoFit/>
          </a:bodyPr>
          <a:lstStyle/>
          <a:p>
            <a:pPr algn="l"/>
            <a:r>
              <a:rPr sz="6000" b="1" i="0">
                <a:solidFill>
                  <a:srgbClr val="FFFFFF"/>
                </a:solidFill>
              </a:rPr>
              <a:t>The AI Content Engine</a:t>
            </a:r>
          </a:p>
        </p:txBody>
      </p:sp>
      <p:sp>
        <p:nvSpPr>
          <p:cNvPr id="4" name="TextBox 3"/>
          <p:cNvSpPr txBox="1"/>
          <p:nvPr/>
        </p:nvSpPr>
        <p:spPr>
          <a:xfrm>
            <a:off x="640080" y="2743200"/>
            <a:ext cx="10058400" cy="640080"/>
          </a:xfrm>
          <a:prstGeom prst="rect">
            <a:avLst/>
          </a:prstGeom>
          <a:noFill/>
        </p:spPr>
        <p:txBody>
          <a:bodyPr wrap="square">
            <a:spAutoFit/>
          </a:bodyPr>
          <a:lstStyle/>
          <a:p>
            <a:pPr algn="l"/>
            <a:r>
              <a:rPr sz="2400" b="0" i="0">
                <a:solidFill>
                  <a:srgbClr val="E8D5F5"/>
                </a:solidFill>
              </a:rPr>
              <a:t>Trend → Publish in 2 Minutes  ·  5 Platforms  ·  300 Posts/Month</a:t>
            </a:r>
          </a:p>
        </p:txBody>
      </p:sp>
      <p:sp>
        <p:nvSpPr>
          <p:cNvPr id="5" name="TextBox 4"/>
          <p:cNvSpPr txBox="1"/>
          <p:nvPr/>
        </p:nvSpPr>
        <p:spPr>
          <a:xfrm>
            <a:off x="640080" y="3566160"/>
            <a:ext cx="7315200" cy="457200"/>
          </a:xfrm>
          <a:prstGeom prst="rect">
            <a:avLst/>
          </a:prstGeom>
          <a:noFill/>
        </p:spPr>
        <p:txBody>
          <a:bodyPr wrap="square">
            <a:spAutoFit/>
          </a:bodyPr>
          <a:lstStyle/>
          <a:p>
            <a:pPr algn="l"/>
            <a:r>
              <a:rPr sz="1600" b="0" i="1">
                <a:solidFill>
                  <a:srgbClr val="AA88CC"/>
                </a:solidFill>
              </a:rPr>
              <a:t>Housing.com Hackathon 2026  ·  Multi-Agent AI</a:t>
            </a:r>
          </a:p>
        </p:txBody>
      </p:sp>
      <p:sp>
        <p:nvSpPr>
          <p:cNvPr id="6" name="Rectangle 5"/>
          <p:cNvSpPr/>
          <p:nvPr/>
        </p:nvSpPr>
        <p:spPr>
          <a:xfrm>
            <a:off x="640080" y="5486400"/>
            <a:ext cx="2560320" cy="9144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532120"/>
            <a:ext cx="2377440" cy="411480"/>
          </a:xfrm>
          <a:prstGeom prst="rect">
            <a:avLst/>
          </a:prstGeom>
          <a:noFill/>
        </p:spPr>
        <p:txBody>
          <a:bodyPr wrap="square">
            <a:spAutoFit/>
          </a:bodyPr>
          <a:lstStyle/>
          <a:p>
            <a:pPr algn="l"/>
            <a:r>
              <a:rPr sz="2200" b="1" i="0">
                <a:solidFill>
                  <a:srgbClr val="FFFFFF"/>
                </a:solidFill>
              </a:rPr>
              <a:t>₹8L/mo saved</a:t>
            </a:r>
          </a:p>
        </p:txBody>
      </p:sp>
      <p:sp>
        <p:nvSpPr>
          <p:cNvPr id="8" name="TextBox 7"/>
          <p:cNvSpPr txBox="1"/>
          <p:nvPr/>
        </p:nvSpPr>
        <p:spPr>
          <a:xfrm>
            <a:off x="731520" y="5943600"/>
            <a:ext cx="2377440" cy="365760"/>
          </a:xfrm>
          <a:prstGeom prst="rect">
            <a:avLst/>
          </a:prstGeom>
          <a:noFill/>
        </p:spPr>
        <p:txBody>
          <a:bodyPr wrap="square">
            <a:spAutoFit/>
          </a:bodyPr>
          <a:lstStyle/>
          <a:p>
            <a:pPr algn="l"/>
            <a:r>
              <a:rPr sz="1200" b="0" i="0">
                <a:solidFill>
                  <a:srgbClr val="E8D5F5"/>
                </a:solidFill>
              </a:rPr>
              <a:t>vs agency team</a:t>
            </a:r>
          </a:p>
        </p:txBody>
      </p:sp>
      <p:sp>
        <p:nvSpPr>
          <p:cNvPr id="9" name="Rectangle 8"/>
          <p:cNvSpPr/>
          <p:nvPr/>
        </p:nvSpPr>
        <p:spPr>
          <a:xfrm>
            <a:off x="3566160" y="5486400"/>
            <a:ext cx="2560320" cy="9144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5532120"/>
            <a:ext cx="2377440" cy="411480"/>
          </a:xfrm>
          <a:prstGeom prst="rect">
            <a:avLst/>
          </a:prstGeom>
          <a:noFill/>
        </p:spPr>
        <p:txBody>
          <a:bodyPr wrap="square">
            <a:spAutoFit/>
          </a:bodyPr>
          <a:lstStyle/>
          <a:p>
            <a:pPr algn="l"/>
            <a:r>
              <a:rPr sz="2200" b="1" i="0">
                <a:solidFill>
                  <a:srgbClr val="FFFFFF"/>
                </a:solidFill>
              </a:rPr>
              <a:t>2 min</a:t>
            </a:r>
          </a:p>
        </p:txBody>
      </p:sp>
      <p:sp>
        <p:nvSpPr>
          <p:cNvPr id="11" name="TextBox 10"/>
          <p:cNvSpPr txBox="1"/>
          <p:nvPr/>
        </p:nvSpPr>
        <p:spPr>
          <a:xfrm>
            <a:off x="3657600" y="5943600"/>
            <a:ext cx="2377440" cy="365760"/>
          </a:xfrm>
          <a:prstGeom prst="rect">
            <a:avLst/>
          </a:prstGeom>
          <a:noFill/>
        </p:spPr>
        <p:txBody>
          <a:bodyPr wrap="square">
            <a:spAutoFit/>
          </a:bodyPr>
          <a:lstStyle/>
          <a:p>
            <a:pPr algn="l"/>
            <a:r>
              <a:rPr sz="1200" b="0" i="0">
                <a:solidFill>
                  <a:srgbClr val="E8D5F5"/>
                </a:solidFill>
              </a:rPr>
              <a:t>end-to-end run</a:t>
            </a:r>
          </a:p>
        </p:txBody>
      </p:sp>
      <p:sp>
        <p:nvSpPr>
          <p:cNvPr id="12" name="Rectangle 11"/>
          <p:cNvSpPr/>
          <p:nvPr/>
        </p:nvSpPr>
        <p:spPr>
          <a:xfrm>
            <a:off x="6492240" y="5486400"/>
            <a:ext cx="2560320" cy="9144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5532120"/>
            <a:ext cx="2377440" cy="411480"/>
          </a:xfrm>
          <a:prstGeom prst="rect">
            <a:avLst/>
          </a:prstGeom>
          <a:noFill/>
        </p:spPr>
        <p:txBody>
          <a:bodyPr wrap="square">
            <a:spAutoFit/>
          </a:bodyPr>
          <a:lstStyle/>
          <a:p>
            <a:pPr algn="l"/>
            <a:r>
              <a:rPr sz="2200" b="1" i="0">
                <a:solidFill>
                  <a:srgbClr val="FFFFFF"/>
                </a:solidFill>
              </a:rPr>
              <a:t>5 platforms</a:t>
            </a:r>
          </a:p>
        </p:txBody>
      </p:sp>
      <p:sp>
        <p:nvSpPr>
          <p:cNvPr id="14" name="TextBox 13"/>
          <p:cNvSpPr txBox="1"/>
          <p:nvPr/>
        </p:nvSpPr>
        <p:spPr>
          <a:xfrm>
            <a:off x="6583680" y="5943600"/>
            <a:ext cx="2377440" cy="365760"/>
          </a:xfrm>
          <a:prstGeom prst="rect">
            <a:avLst/>
          </a:prstGeom>
          <a:noFill/>
        </p:spPr>
        <p:txBody>
          <a:bodyPr wrap="square">
            <a:spAutoFit/>
          </a:bodyPr>
          <a:lstStyle/>
          <a:p>
            <a:pPr algn="l"/>
            <a:r>
              <a:rPr sz="1200" b="0" i="0">
                <a:solidFill>
                  <a:srgbClr val="E8D5F5"/>
                </a:solidFill>
              </a:rPr>
              <a:t>simultaneously</a:t>
            </a:r>
          </a:p>
        </p:txBody>
      </p:sp>
      <p:sp>
        <p:nvSpPr>
          <p:cNvPr id="15" name="Rectangle 14"/>
          <p:cNvSpPr/>
          <p:nvPr/>
        </p:nvSpPr>
        <p:spPr>
          <a:xfrm>
            <a:off x="9418320" y="5486400"/>
            <a:ext cx="2560320" cy="9144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0" y="5532120"/>
            <a:ext cx="2377440" cy="411480"/>
          </a:xfrm>
          <a:prstGeom prst="rect">
            <a:avLst/>
          </a:prstGeom>
          <a:noFill/>
        </p:spPr>
        <p:txBody>
          <a:bodyPr wrap="square">
            <a:spAutoFit/>
          </a:bodyPr>
          <a:lstStyle/>
          <a:p>
            <a:pPr algn="l"/>
            <a:r>
              <a:rPr sz="2200" b="1" i="0">
                <a:solidFill>
                  <a:srgbClr val="FFFFFF"/>
                </a:solidFill>
              </a:rPr>
              <a:t>3-pass QA</a:t>
            </a:r>
          </a:p>
        </p:txBody>
      </p:sp>
      <p:sp>
        <p:nvSpPr>
          <p:cNvPr id="17" name="TextBox 16"/>
          <p:cNvSpPr txBox="1"/>
          <p:nvPr/>
        </p:nvSpPr>
        <p:spPr>
          <a:xfrm>
            <a:off x="9509760" y="5943600"/>
            <a:ext cx="2377440" cy="365760"/>
          </a:xfrm>
          <a:prstGeom prst="rect">
            <a:avLst/>
          </a:prstGeom>
          <a:noFill/>
        </p:spPr>
        <p:txBody>
          <a:bodyPr wrap="square">
            <a:spAutoFit/>
          </a:bodyPr>
          <a:lstStyle/>
          <a:p>
            <a:pPr algn="l"/>
            <a:r>
              <a:rPr sz="1200" b="0" i="0">
                <a:solidFill>
                  <a:srgbClr val="E8D5F5"/>
                </a:solidFill>
              </a:rPr>
              <a:t>brand-safe 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The Problem: Content at Scale is Broken</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2</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457200" y="1645920"/>
            <a:ext cx="5486400" cy="201168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5120640" cy="411480"/>
          </a:xfrm>
          <a:prstGeom prst="rect">
            <a:avLst/>
          </a:prstGeom>
          <a:noFill/>
        </p:spPr>
        <p:txBody>
          <a:bodyPr wrap="square">
            <a:spAutoFit/>
          </a:bodyPr>
          <a:lstStyle/>
          <a:p>
            <a:pPr algn="l"/>
            <a:r>
              <a:rPr sz="1600" b="1" i="0">
                <a:solidFill>
                  <a:srgbClr val="6B2D8B"/>
                </a:solidFill>
              </a:rPr>
              <a:t>⏱  Speed Gap</a:t>
            </a:r>
          </a:p>
        </p:txBody>
      </p:sp>
      <p:sp>
        <p:nvSpPr>
          <p:cNvPr id="8" name="TextBox 7"/>
          <p:cNvSpPr txBox="1"/>
          <p:nvPr/>
        </p:nvSpPr>
        <p:spPr>
          <a:xfrm>
            <a:off x="640080" y="2240280"/>
            <a:ext cx="5120640" cy="1280160"/>
          </a:xfrm>
          <a:prstGeom prst="rect">
            <a:avLst/>
          </a:prstGeom>
          <a:noFill/>
        </p:spPr>
        <p:txBody>
          <a:bodyPr wrap="square">
            <a:spAutoFit/>
          </a:bodyPr>
          <a:lstStyle/>
          <a:p>
            <a:pPr algn="l"/>
            <a:r>
              <a:rPr sz="1300" b="0" i="0">
                <a:solidFill>
                  <a:srgbClr val="1A1A2E"/>
                </a:solidFill>
              </a:rPr>
              <a:t>Housing market moves daily — RERA rulings, RBI rate cuts, city micro-trends.
A 4-person content team can't process 15 trending topics and publish before they peak.</a:t>
            </a:r>
          </a:p>
        </p:txBody>
      </p:sp>
      <p:sp>
        <p:nvSpPr>
          <p:cNvPr id="9" name="Rectangle 8"/>
          <p:cNvSpPr/>
          <p:nvPr/>
        </p:nvSpPr>
        <p:spPr>
          <a:xfrm>
            <a:off x="6309360" y="1645920"/>
            <a:ext cx="5486400" cy="201168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5120640" cy="411480"/>
          </a:xfrm>
          <a:prstGeom prst="rect">
            <a:avLst/>
          </a:prstGeom>
          <a:noFill/>
        </p:spPr>
        <p:txBody>
          <a:bodyPr wrap="square">
            <a:spAutoFit/>
          </a:bodyPr>
          <a:lstStyle/>
          <a:p>
            <a:pPr algn="l"/>
            <a:r>
              <a:rPr sz="1600" b="1" i="0">
                <a:solidFill>
                  <a:srgbClr val="6B2D8B"/>
                </a:solidFill>
              </a:rPr>
              <a:t>💸  Cost Cliff</a:t>
            </a:r>
          </a:p>
        </p:txBody>
      </p:sp>
      <p:sp>
        <p:nvSpPr>
          <p:cNvPr id="11" name="TextBox 10"/>
          <p:cNvSpPr txBox="1"/>
          <p:nvPr/>
        </p:nvSpPr>
        <p:spPr>
          <a:xfrm>
            <a:off x="6492240" y="2240280"/>
            <a:ext cx="5120640" cy="1280160"/>
          </a:xfrm>
          <a:prstGeom prst="rect">
            <a:avLst/>
          </a:prstGeom>
          <a:noFill/>
        </p:spPr>
        <p:txBody>
          <a:bodyPr wrap="square">
            <a:spAutoFit/>
          </a:bodyPr>
          <a:lstStyle/>
          <a:p>
            <a:pPr algn="l"/>
            <a:r>
              <a:rPr sz="1300" b="0" i="0">
                <a:solidFill>
                  <a:srgbClr val="1A1A2E"/>
                </a:solidFill>
              </a:rPr>
              <a:t>₹8–10 lakh/month for a full content team: 1 strategist, 2 writers, 1 social manager.
Output: ~60–80 posts/month. Cost per post: ₹10,000–16,000.</a:t>
            </a:r>
          </a:p>
        </p:txBody>
      </p:sp>
      <p:sp>
        <p:nvSpPr>
          <p:cNvPr id="12" name="Rectangle 11"/>
          <p:cNvSpPr/>
          <p:nvPr/>
        </p:nvSpPr>
        <p:spPr>
          <a:xfrm>
            <a:off x="457200" y="3931920"/>
            <a:ext cx="5486400" cy="201168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069080"/>
            <a:ext cx="5120640" cy="411480"/>
          </a:xfrm>
          <a:prstGeom prst="rect">
            <a:avLst/>
          </a:prstGeom>
          <a:noFill/>
        </p:spPr>
        <p:txBody>
          <a:bodyPr wrap="square">
            <a:spAutoFit/>
          </a:bodyPr>
          <a:lstStyle/>
          <a:p>
            <a:pPr algn="l"/>
            <a:r>
              <a:rPr sz="1600" b="1" i="0">
                <a:solidFill>
                  <a:srgbClr val="6B2D8B"/>
                </a:solidFill>
              </a:rPr>
              <a:t>🎯  Quality Drift</a:t>
            </a:r>
          </a:p>
        </p:txBody>
      </p:sp>
      <p:sp>
        <p:nvSpPr>
          <p:cNvPr id="14" name="TextBox 13"/>
          <p:cNvSpPr txBox="1"/>
          <p:nvPr/>
        </p:nvSpPr>
        <p:spPr>
          <a:xfrm>
            <a:off x="640080" y="4526280"/>
            <a:ext cx="5120640" cy="1280160"/>
          </a:xfrm>
          <a:prstGeom prst="rect">
            <a:avLst/>
          </a:prstGeom>
          <a:noFill/>
        </p:spPr>
        <p:txBody>
          <a:bodyPr wrap="square">
            <a:spAutoFit/>
          </a:bodyPr>
          <a:lstStyle/>
          <a:p>
            <a:pPr algn="l"/>
            <a:r>
              <a:rPr sz="1300" b="0" i="0">
                <a:solidFill>
                  <a:srgbClr val="1A1A2E"/>
                </a:solidFill>
              </a:rPr>
              <a:t>Brand voice inconsistency across writers. Instagram caption ≠ LinkedIn tone.
No systematic QA. Political or factually wrong posts slip through.</a:t>
            </a:r>
          </a:p>
        </p:txBody>
      </p:sp>
      <p:sp>
        <p:nvSpPr>
          <p:cNvPr id="15" name="Rectangle 14"/>
          <p:cNvSpPr/>
          <p:nvPr/>
        </p:nvSpPr>
        <p:spPr>
          <a:xfrm>
            <a:off x="6309360" y="3931920"/>
            <a:ext cx="5486400" cy="2011680"/>
          </a:xfrm>
          <a:prstGeom prst="rect">
            <a:avLst/>
          </a:prstGeom>
          <a:solidFill>
            <a:srgbClr val="F5F5F5"/>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69080"/>
            <a:ext cx="5120640" cy="411480"/>
          </a:xfrm>
          <a:prstGeom prst="rect">
            <a:avLst/>
          </a:prstGeom>
          <a:noFill/>
        </p:spPr>
        <p:txBody>
          <a:bodyPr wrap="square">
            <a:spAutoFit/>
          </a:bodyPr>
          <a:lstStyle/>
          <a:p>
            <a:pPr algn="l"/>
            <a:r>
              <a:rPr sz="1600" b="1" i="0">
                <a:solidFill>
                  <a:srgbClr val="6B2D8B"/>
                </a:solidFill>
              </a:rPr>
              <a:t>🔗  Platform Blindness</a:t>
            </a:r>
          </a:p>
        </p:txBody>
      </p:sp>
      <p:sp>
        <p:nvSpPr>
          <p:cNvPr id="17" name="TextBox 16"/>
          <p:cNvSpPr txBox="1"/>
          <p:nvPr/>
        </p:nvSpPr>
        <p:spPr>
          <a:xfrm>
            <a:off x="6492240" y="4526280"/>
            <a:ext cx="5120640" cy="1280160"/>
          </a:xfrm>
          <a:prstGeom prst="rect">
            <a:avLst/>
          </a:prstGeom>
          <a:noFill/>
        </p:spPr>
        <p:txBody>
          <a:bodyPr wrap="square">
            <a:spAutoFit/>
          </a:bodyPr>
          <a:lstStyle/>
          <a:p>
            <a:pPr algn="l"/>
            <a:r>
              <a:rPr sz="1300" b="0" i="0">
                <a:solidFill>
                  <a:srgbClr val="1A1A2E"/>
                </a:solidFill>
              </a:rPr>
              <a:t>Same content pasted across 5 platforms. Twitter's 280 chars. Instagram's hashtag game.
YouTube Shorts scripts. Each platform has different physics — one draft doesn't fit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A1055"/>
        </a:solidFill>
        <a:effectLst/>
      </p:bgPr>
    </p:bg>
    <p:spTree>
      <p:nvGrpSpPr>
        <p:cNvPr id="1" name=""/>
        <p:cNvGrpSpPr/>
        <p:nvPr/>
      </p:nvGrpSpPr>
      <p:grpSpPr/>
      <p:sp>
        <p:nvSpPr>
          <p:cNvPr id="2" name="TextBox 1"/>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3</a:t>
            </a:r>
          </a:p>
        </p:txBody>
      </p:sp>
      <p:sp>
        <p:nvSpPr>
          <p:cNvPr id="3" name="TextBox 2"/>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4" name="TextBox 3"/>
          <p:cNvSpPr txBox="1"/>
          <p:nvPr/>
        </p:nvSpPr>
        <p:spPr>
          <a:xfrm>
            <a:off x="914400" y="822960"/>
            <a:ext cx="10058400" cy="548640"/>
          </a:xfrm>
          <a:prstGeom prst="rect">
            <a:avLst/>
          </a:prstGeom>
          <a:noFill/>
        </p:spPr>
        <p:txBody>
          <a:bodyPr wrap="square">
            <a:spAutoFit/>
          </a:bodyPr>
          <a:lstStyle/>
          <a:p>
            <a:pPr algn="l"/>
            <a:r>
              <a:rPr sz="2000" b="0" i="1">
                <a:solidFill>
                  <a:srgbClr val="E8D5F5"/>
                </a:solidFill>
              </a:rPr>
              <a:t>Introducing</a:t>
            </a:r>
          </a:p>
        </p:txBody>
      </p:sp>
      <p:sp>
        <p:nvSpPr>
          <p:cNvPr id="5" name="TextBox 4"/>
          <p:cNvSpPr txBox="1"/>
          <p:nvPr/>
        </p:nvSpPr>
        <p:spPr>
          <a:xfrm>
            <a:off x="914400" y="1371600"/>
            <a:ext cx="10058400" cy="1188720"/>
          </a:xfrm>
          <a:prstGeom prst="rect">
            <a:avLst/>
          </a:prstGeom>
          <a:noFill/>
        </p:spPr>
        <p:txBody>
          <a:bodyPr wrap="square">
            <a:spAutoFit/>
          </a:bodyPr>
          <a:lstStyle/>
          <a:p>
            <a:pPr algn="l"/>
            <a:r>
              <a:rPr sz="5200" b="1" i="0">
                <a:solidFill>
                  <a:srgbClr val="FFFFFF"/>
                </a:solidFill>
              </a:rPr>
              <a:t>The AI Content Engine</a:t>
            </a:r>
          </a:p>
        </p:txBody>
      </p:sp>
      <p:sp>
        <p:nvSpPr>
          <p:cNvPr id="6" name="TextBox 5"/>
          <p:cNvSpPr txBox="1"/>
          <p:nvPr/>
        </p:nvSpPr>
        <p:spPr>
          <a:xfrm>
            <a:off x="914400" y="2743200"/>
            <a:ext cx="10058400" cy="1371600"/>
          </a:xfrm>
          <a:prstGeom prst="rect">
            <a:avLst/>
          </a:prstGeom>
          <a:noFill/>
        </p:spPr>
        <p:txBody>
          <a:bodyPr wrap="square">
            <a:spAutoFit/>
          </a:bodyPr>
          <a:lstStyle/>
          <a:p>
            <a:pPr algn="l"/>
            <a:r>
              <a:rPr sz="2200" b="0" i="0">
                <a:solidFill>
                  <a:srgbClr val="E8D5F5"/>
                </a:solidFill>
              </a:rPr>
              <a:t>A fully automated, multi-agent pipeline that monitors real-time trends,
generates platform-native content, enforces 3-pass brand safety QA,
and publishes to 5 channels — in under 2 minutes.</a:t>
            </a:r>
          </a:p>
        </p:txBody>
      </p:sp>
      <p:sp>
        <p:nvSpPr>
          <p:cNvPr id="7" name="Rectangle 6"/>
          <p:cNvSpPr/>
          <p:nvPr/>
        </p:nvSpPr>
        <p:spPr>
          <a:xfrm>
            <a:off x="914400" y="438912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89120"/>
            <a:ext cx="2286000" cy="457200"/>
          </a:xfrm>
          <a:prstGeom prst="rect">
            <a:avLst/>
          </a:prstGeom>
          <a:noFill/>
        </p:spPr>
        <p:txBody>
          <a:bodyPr wrap="square">
            <a:spAutoFit/>
          </a:bodyPr>
          <a:lstStyle/>
          <a:p>
            <a:pPr algn="ctr"/>
            <a:r>
              <a:rPr sz="1300" b="1" i="0">
                <a:solidFill>
                  <a:srgbClr val="FFFFFF"/>
                </a:solidFill>
              </a:rPr>
              <a:t>Claude Opus 4.7</a:t>
            </a:r>
          </a:p>
        </p:txBody>
      </p:sp>
      <p:sp>
        <p:nvSpPr>
          <p:cNvPr id="9" name="Rectangle 8"/>
          <p:cNvSpPr/>
          <p:nvPr/>
        </p:nvSpPr>
        <p:spPr>
          <a:xfrm>
            <a:off x="3566160" y="438912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4389120"/>
            <a:ext cx="2286000" cy="457200"/>
          </a:xfrm>
          <a:prstGeom prst="rect">
            <a:avLst/>
          </a:prstGeom>
          <a:noFill/>
        </p:spPr>
        <p:txBody>
          <a:bodyPr wrap="square">
            <a:spAutoFit/>
          </a:bodyPr>
          <a:lstStyle/>
          <a:p>
            <a:pPr algn="ctr"/>
            <a:r>
              <a:rPr sz="1300" b="1" i="0">
                <a:solidFill>
                  <a:srgbClr val="FFFFFF"/>
                </a:solidFill>
              </a:rPr>
              <a:t>LangGraph</a:t>
            </a:r>
          </a:p>
        </p:txBody>
      </p:sp>
      <p:sp>
        <p:nvSpPr>
          <p:cNvPr id="11" name="Rectangle 10"/>
          <p:cNvSpPr/>
          <p:nvPr/>
        </p:nvSpPr>
        <p:spPr>
          <a:xfrm>
            <a:off x="6217920" y="438912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4389120"/>
            <a:ext cx="2286000" cy="457200"/>
          </a:xfrm>
          <a:prstGeom prst="rect">
            <a:avLst/>
          </a:prstGeom>
          <a:noFill/>
        </p:spPr>
        <p:txBody>
          <a:bodyPr wrap="square">
            <a:spAutoFit/>
          </a:bodyPr>
          <a:lstStyle/>
          <a:p>
            <a:pPr algn="ctr"/>
            <a:r>
              <a:rPr sz="1300" b="1" i="0">
                <a:solidFill>
                  <a:srgbClr val="FFFFFF"/>
                </a:solidFill>
              </a:rPr>
              <a:t>5 Platforms</a:t>
            </a:r>
          </a:p>
        </p:txBody>
      </p:sp>
      <p:sp>
        <p:nvSpPr>
          <p:cNvPr id="13" name="Rectangle 12"/>
          <p:cNvSpPr/>
          <p:nvPr/>
        </p:nvSpPr>
        <p:spPr>
          <a:xfrm>
            <a:off x="8869680" y="438912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4389120"/>
            <a:ext cx="2286000" cy="457200"/>
          </a:xfrm>
          <a:prstGeom prst="rect">
            <a:avLst/>
          </a:prstGeom>
          <a:noFill/>
        </p:spPr>
        <p:txBody>
          <a:bodyPr wrap="square">
            <a:spAutoFit/>
          </a:bodyPr>
          <a:lstStyle/>
          <a:p>
            <a:pPr algn="ctr"/>
            <a:r>
              <a:rPr sz="1300" b="1" i="0">
                <a:solidFill>
                  <a:srgbClr val="FFFFFF"/>
                </a:solidFill>
              </a:rPr>
              <a:t>3-Pass QA</a:t>
            </a:r>
          </a:p>
        </p:txBody>
      </p:sp>
      <p:sp>
        <p:nvSpPr>
          <p:cNvPr id="15" name="Rectangle 14"/>
          <p:cNvSpPr/>
          <p:nvPr/>
        </p:nvSpPr>
        <p:spPr>
          <a:xfrm>
            <a:off x="914400" y="502920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2286000" cy="457200"/>
          </a:xfrm>
          <a:prstGeom prst="rect">
            <a:avLst/>
          </a:prstGeom>
          <a:noFill/>
        </p:spPr>
        <p:txBody>
          <a:bodyPr wrap="square">
            <a:spAutoFit/>
          </a:bodyPr>
          <a:lstStyle/>
          <a:p>
            <a:pPr algn="ctr"/>
            <a:r>
              <a:rPr sz="1300" b="1" i="0">
                <a:solidFill>
                  <a:srgbClr val="FFFFFF"/>
                </a:solidFill>
              </a:rPr>
              <a:t>Hinglish Voice</a:t>
            </a:r>
          </a:p>
        </p:txBody>
      </p:sp>
      <p:sp>
        <p:nvSpPr>
          <p:cNvPr id="17" name="Rectangle 16"/>
          <p:cNvSpPr/>
          <p:nvPr/>
        </p:nvSpPr>
        <p:spPr>
          <a:xfrm>
            <a:off x="3566160" y="502920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5029200"/>
            <a:ext cx="2286000" cy="457200"/>
          </a:xfrm>
          <a:prstGeom prst="rect">
            <a:avLst/>
          </a:prstGeom>
          <a:noFill/>
        </p:spPr>
        <p:txBody>
          <a:bodyPr wrap="square">
            <a:spAutoFit/>
          </a:bodyPr>
          <a:lstStyle/>
          <a:p>
            <a:pPr algn="ctr"/>
            <a:r>
              <a:rPr sz="1300" b="1" i="0">
                <a:solidFill>
                  <a:srgbClr val="FFFFFF"/>
                </a:solidFill>
              </a:rPr>
              <a:t>SEO Articles</a:t>
            </a:r>
          </a:p>
        </p:txBody>
      </p:sp>
      <p:sp>
        <p:nvSpPr>
          <p:cNvPr id="19" name="Rectangle 18"/>
          <p:cNvSpPr/>
          <p:nvPr/>
        </p:nvSpPr>
        <p:spPr>
          <a:xfrm>
            <a:off x="6217920" y="502920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5029200"/>
            <a:ext cx="2286000" cy="457200"/>
          </a:xfrm>
          <a:prstGeom prst="rect">
            <a:avLst/>
          </a:prstGeom>
          <a:noFill/>
        </p:spPr>
        <p:txBody>
          <a:bodyPr wrap="square">
            <a:spAutoFit/>
          </a:bodyPr>
          <a:lstStyle/>
          <a:p>
            <a:pPr algn="ctr"/>
            <a:r>
              <a:rPr sz="1300" b="1" i="0">
                <a:solidFill>
                  <a:srgbClr val="FFFFFF"/>
                </a:solidFill>
              </a:rPr>
              <a:t>Slack Bot</a:t>
            </a:r>
          </a:p>
        </p:txBody>
      </p:sp>
      <p:sp>
        <p:nvSpPr>
          <p:cNvPr id="21" name="Rectangle 20"/>
          <p:cNvSpPr/>
          <p:nvPr/>
        </p:nvSpPr>
        <p:spPr>
          <a:xfrm>
            <a:off x="8869680" y="5029200"/>
            <a:ext cx="2286000" cy="4572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5029200"/>
            <a:ext cx="2286000" cy="457200"/>
          </a:xfrm>
          <a:prstGeom prst="rect">
            <a:avLst/>
          </a:prstGeom>
          <a:noFill/>
        </p:spPr>
        <p:txBody>
          <a:bodyPr wrap="square">
            <a:spAutoFit/>
          </a:bodyPr>
          <a:lstStyle/>
          <a:p>
            <a:pPr algn="ctr"/>
            <a:r>
              <a:rPr sz="1300" b="1" i="0">
                <a:solidFill>
                  <a:srgbClr val="FFFFFF"/>
                </a:solidFill>
              </a:rPr>
              <a:t>Engagement Prediction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A1055"/>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Architecture: 8-Node Multi-Agent Pipeline</a:t>
            </a:r>
          </a:p>
        </p:txBody>
      </p:sp>
      <p:pic>
        <p:nvPicPr>
          <p:cNvPr id="4" name="Picture 3" descr="image.png"/>
          <p:cNvPicPr>
            <a:picLocks noChangeAspect="1"/>
          </p:cNvPicPr>
          <p:nvPr/>
        </p:nvPicPr>
        <p:blipFill>
          <a:blip r:embed="rId2"/>
          <a:stretch>
            <a:fillRect/>
          </a:stretch>
        </p:blipFill>
        <p:spPr>
          <a:xfrm>
            <a:off x="182880" y="1280160"/>
            <a:ext cx="11795760" cy="5029200"/>
          </a:xfrm>
          <a:prstGeom prst="rect">
            <a:avLst/>
          </a:prstGeom>
        </p:spPr>
      </p:pic>
      <p:sp>
        <p:nvSpPr>
          <p:cNvPr id="5" name="TextBox 4"/>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4</a:t>
            </a:r>
          </a:p>
        </p:txBody>
      </p:sp>
      <p:sp>
        <p:nvSpPr>
          <p:cNvPr id="6" name="TextBox 5"/>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What Each Agent Does</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5</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365760" y="164592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19072"/>
            <a:ext cx="3657600" cy="347472"/>
          </a:xfrm>
          <a:prstGeom prst="rect">
            <a:avLst/>
          </a:prstGeom>
          <a:noFill/>
        </p:spPr>
        <p:txBody>
          <a:bodyPr wrap="square">
            <a:spAutoFit/>
          </a:bodyPr>
          <a:lstStyle/>
          <a:p>
            <a:pPr algn="l"/>
            <a:r>
              <a:rPr sz="1400" b="1" i="0">
                <a:solidFill>
                  <a:srgbClr val="6B2D8B"/>
                </a:solidFill>
              </a:rPr>
              <a:t>🔍  Researcher</a:t>
            </a:r>
          </a:p>
        </p:txBody>
      </p:sp>
      <p:sp>
        <p:nvSpPr>
          <p:cNvPr id="8" name="Rectangle 7"/>
          <p:cNvSpPr/>
          <p:nvPr/>
        </p:nvSpPr>
        <p:spPr>
          <a:xfrm>
            <a:off x="4297680" y="173736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737360"/>
            <a:ext cx="1463040" cy="292608"/>
          </a:xfrm>
          <a:prstGeom prst="rect">
            <a:avLst/>
          </a:prstGeom>
          <a:noFill/>
        </p:spPr>
        <p:txBody>
          <a:bodyPr wrap="none">
            <a:spAutoFit/>
          </a:bodyPr>
          <a:lstStyle/>
          <a:p>
            <a:pPr algn="ctr"/>
            <a:r>
              <a:rPr sz="1000" b="1">
                <a:solidFill>
                  <a:srgbClr val="FFFFFF"/>
                </a:solidFill>
              </a:rPr>
              <a:t>Sonnet 4.6</a:t>
            </a:r>
          </a:p>
        </p:txBody>
      </p:sp>
      <p:sp>
        <p:nvSpPr>
          <p:cNvPr id="10" name="TextBox 9"/>
          <p:cNvSpPr txBox="1"/>
          <p:nvPr/>
        </p:nvSpPr>
        <p:spPr>
          <a:xfrm>
            <a:off x="502920" y="2103120"/>
            <a:ext cx="5303520" cy="594360"/>
          </a:xfrm>
          <a:prstGeom prst="rect">
            <a:avLst/>
          </a:prstGeom>
          <a:noFill/>
        </p:spPr>
        <p:txBody>
          <a:bodyPr wrap="square">
            <a:spAutoFit/>
          </a:bodyPr>
          <a:lstStyle/>
          <a:p>
            <a:pPr algn="l"/>
            <a:r>
              <a:rPr sz="1100" b="0" i="0">
                <a:solidFill>
                  <a:srgbClr val="1A1A2E"/>
                </a:solidFill>
              </a:rPr>
              <a:t>Tavily web search across 12 credible RE sources. 5 rounds max. 8 news items with relevance scoring.</a:t>
            </a:r>
          </a:p>
        </p:txBody>
      </p:sp>
      <p:sp>
        <p:nvSpPr>
          <p:cNvPr id="11" name="Rectangle 10"/>
          <p:cNvSpPr/>
          <p:nvPr/>
        </p:nvSpPr>
        <p:spPr>
          <a:xfrm>
            <a:off x="365760" y="288036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953512"/>
            <a:ext cx="3657600" cy="347472"/>
          </a:xfrm>
          <a:prstGeom prst="rect">
            <a:avLst/>
          </a:prstGeom>
          <a:noFill/>
        </p:spPr>
        <p:txBody>
          <a:bodyPr wrap="square">
            <a:spAutoFit/>
          </a:bodyPr>
          <a:lstStyle/>
          <a:p>
            <a:pPr algn="l"/>
            <a:r>
              <a:rPr sz="1400" b="1" i="0">
                <a:solidFill>
                  <a:srgbClr val="6B2D8B"/>
                </a:solidFill>
              </a:rPr>
              <a:t>📈  Trend Researcher</a:t>
            </a:r>
          </a:p>
        </p:txBody>
      </p:sp>
      <p:sp>
        <p:nvSpPr>
          <p:cNvPr id="13" name="Rectangle 12"/>
          <p:cNvSpPr/>
          <p:nvPr/>
        </p:nvSpPr>
        <p:spPr>
          <a:xfrm>
            <a:off x="4297680" y="297180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971800"/>
            <a:ext cx="1463040" cy="292608"/>
          </a:xfrm>
          <a:prstGeom prst="rect">
            <a:avLst/>
          </a:prstGeom>
          <a:noFill/>
        </p:spPr>
        <p:txBody>
          <a:bodyPr wrap="none">
            <a:spAutoFit/>
          </a:bodyPr>
          <a:lstStyle/>
          <a:p>
            <a:pPr algn="ctr"/>
            <a:r>
              <a:rPr sz="1000" b="1">
                <a:solidFill>
                  <a:srgbClr val="FFFFFF"/>
                </a:solidFill>
              </a:rPr>
              <a:t>Sonnet 4.6</a:t>
            </a:r>
          </a:p>
        </p:txBody>
      </p:sp>
      <p:sp>
        <p:nvSpPr>
          <p:cNvPr id="15" name="TextBox 14"/>
          <p:cNvSpPr txBox="1"/>
          <p:nvPr/>
        </p:nvSpPr>
        <p:spPr>
          <a:xfrm>
            <a:off x="502920" y="3337560"/>
            <a:ext cx="5303520" cy="594360"/>
          </a:xfrm>
          <a:prstGeom prst="rect">
            <a:avLst/>
          </a:prstGeom>
          <a:noFill/>
        </p:spPr>
        <p:txBody>
          <a:bodyPr wrap="square">
            <a:spAutoFit/>
          </a:bodyPr>
          <a:lstStyle/>
          <a:p>
            <a:pPr algn="l"/>
            <a:r>
              <a:rPr sz="1100" b="0" i="0">
                <a:solidFill>
                  <a:srgbClr val="1A1A2E"/>
                </a:solidFill>
              </a:rPr>
              <a:t>Aggregates Google Trends + YouTube India + Reddit + Twitter. 15 trend items with Hinglish creative hooks.</a:t>
            </a:r>
          </a:p>
        </p:txBody>
      </p:sp>
      <p:sp>
        <p:nvSpPr>
          <p:cNvPr id="16" name="Rectangle 15"/>
          <p:cNvSpPr/>
          <p:nvPr/>
        </p:nvSpPr>
        <p:spPr>
          <a:xfrm>
            <a:off x="365760" y="411480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87952"/>
            <a:ext cx="3657600" cy="347472"/>
          </a:xfrm>
          <a:prstGeom prst="rect">
            <a:avLst/>
          </a:prstGeom>
          <a:noFill/>
        </p:spPr>
        <p:txBody>
          <a:bodyPr wrap="square">
            <a:spAutoFit/>
          </a:bodyPr>
          <a:lstStyle/>
          <a:p>
            <a:pPr algn="l"/>
            <a:r>
              <a:rPr sz="1400" b="1" i="0">
                <a:solidFill>
                  <a:srgbClr val="6B2D8B"/>
                </a:solidFill>
              </a:rPr>
              <a:t>🗂  Planner</a:t>
            </a:r>
          </a:p>
        </p:txBody>
      </p:sp>
      <p:sp>
        <p:nvSpPr>
          <p:cNvPr id="18" name="Rectangle 17"/>
          <p:cNvSpPr/>
          <p:nvPr/>
        </p:nvSpPr>
        <p:spPr>
          <a:xfrm>
            <a:off x="4297680" y="420624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4206240"/>
            <a:ext cx="1463040" cy="292608"/>
          </a:xfrm>
          <a:prstGeom prst="rect">
            <a:avLst/>
          </a:prstGeom>
          <a:noFill/>
        </p:spPr>
        <p:txBody>
          <a:bodyPr wrap="none">
            <a:spAutoFit/>
          </a:bodyPr>
          <a:lstStyle/>
          <a:p>
            <a:pPr algn="ctr"/>
            <a:r>
              <a:rPr sz="1000" b="1">
                <a:solidFill>
                  <a:srgbClr val="FFFFFF"/>
                </a:solidFill>
              </a:rPr>
              <a:t>Gemini Flash</a:t>
            </a:r>
          </a:p>
        </p:txBody>
      </p:sp>
      <p:sp>
        <p:nvSpPr>
          <p:cNvPr id="20" name="TextBox 19"/>
          <p:cNvSpPr txBox="1"/>
          <p:nvPr/>
        </p:nvSpPr>
        <p:spPr>
          <a:xfrm>
            <a:off x="502920" y="4572000"/>
            <a:ext cx="5303520" cy="594360"/>
          </a:xfrm>
          <a:prstGeom prst="rect">
            <a:avLst/>
          </a:prstGeom>
          <a:noFill/>
        </p:spPr>
        <p:txBody>
          <a:bodyPr wrap="square">
            <a:spAutoFit/>
          </a:bodyPr>
          <a:lstStyle/>
          <a:p>
            <a:pPr algn="l"/>
            <a:r>
              <a:rPr sz="1100" b="0" i="0">
                <a:solidFill>
                  <a:srgbClr val="1A1A2E"/>
                </a:solidFill>
              </a:rPr>
              <a:t>Quality gate. Filters off-topic content. Max 5 social + 3 news briefs. OMIT anything with no genuine RE angle.</a:t>
            </a:r>
          </a:p>
        </p:txBody>
      </p:sp>
      <p:sp>
        <p:nvSpPr>
          <p:cNvPr id="21" name="Rectangle 20"/>
          <p:cNvSpPr/>
          <p:nvPr/>
        </p:nvSpPr>
        <p:spPr>
          <a:xfrm>
            <a:off x="365760" y="534924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422392"/>
            <a:ext cx="3657600" cy="347472"/>
          </a:xfrm>
          <a:prstGeom prst="rect">
            <a:avLst/>
          </a:prstGeom>
          <a:noFill/>
        </p:spPr>
        <p:txBody>
          <a:bodyPr wrap="square">
            <a:spAutoFit/>
          </a:bodyPr>
          <a:lstStyle/>
          <a:p>
            <a:pPr algn="l"/>
            <a:r>
              <a:rPr sz="1400" b="1" i="0">
                <a:solidFill>
                  <a:srgbClr val="6B2D8B"/>
                </a:solidFill>
              </a:rPr>
              <a:t>✍️  Social Creative</a:t>
            </a:r>
          </a:p>
        </p:txBody>
      </p:sp>
      <p:sp>
        <p:nvSpPr>
          <p:cNvPr id="23" name="Rectangle 22"/>
          <p:cNvSpPr/>
          <p:nvPr/>
        </p:nvSpPr>
        <p:spPr>
          <a:xfrm>
            <a:off x="4297680" y="544068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5440680"/>
            <a:ext cx="1463040" cy="292608"/>
          </a:xfrm>
          <a:prstGeom prst="rect">
            <a:avLst/>
          </a:prstGeom>
          <a:noFill/>
        </p:spPr>
        <p:txBody>
          <a:bodyPr wrap="none">
            <a:spAutoFit/>
          </a:bodyPr>
          <a:lstStyle/>
          <a:p>
            <a:pPr algn="ctr"/>
            <a:r>
              <a:rPr sz="1000" b="1">
                <a:solidFill>
                  <a:srgbClr val="FFFFFF"/>
                </a:solidFill>
              </a:rPr>
              <a:t>Opus 4.7</a:t>
            </a:r>
          </a:p>
        </p:txBody>
      </p:sp>
      <p:sp>
        <p:nvSpPr>
          <p:cNvPr id="25" name="TextBox 24"/>
          <p:cNvSpPr txBox="1"/>
          <p:nvPr/>
        </p:nvSpPr>
        <p:spPr>
          <a:xfrm>
            <a:off x="502920" y="5806440"/>
            <a:ext cx="5303520" cy="594360"/>
          </a:xfrm>
          <a:prstGeom prst="rect">
            <a:avLst/>
          </a:prstGeom>
          <a:noFill/>
        </p:spPr>
        <p:txBody>
          <a:bodyPr wrap="square">
            <a:spAutoFit/>
          </a:bodyPr>
          <a:lstStyle/>
          <a:p>
            <a:pPr algn="l"/>
            <a:r>
              <a:rPr sz="1100" b="0" i="0">
                <a:solidFill>
                  <a:srgbClr val="1A1A2E"/>
                </a:solidFill>
              </a:rPr>
              <a:t>Zomato method: trend is HERO, housing is PUNCHLINE. Hinglish, 2 emojis max, meme-ready card concept.</a:t>
            </a:r>
          </a:p>
        </p:txBody>
      </p:sp>
      <p:sp>
        <p:nvSpPr>
          <p:cNvPr id="26" name="Rectangle 25"/>
          <p:cNvSpPr/>
          <p:nvPr/>
        </p:nvSpPr>
        <p:spPr>
          <a:xfrm>
            <a:off x="6263640" y="164592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719072"/>
            <a:ext cx="3657600" cy="347472"/>
          </a:xfrm>
          <a:prstGeom prst="rect">
            <a:avLst/>
          </a:prstGeom>
          <a:noFill/>
        </p:spPr>
        <p:txBody>
          <a:bodyPr wrap="square">
            <a:spAutoFit/>
          </a:bodyPr>
          <a:lstStyle/>
          <a:p>
            <a:pPr algn="l"/>
            <a:r>
              <a:rPr sz="1400" b="1" i="0">
                <a:solidFill>
                  <a:srgbClr val="6B2D8B"/>
                </a:solidFill>
              </a:rPr>
              <a:t>📰  News Creative</a:t>
            </a:r>
          </a:p>
        </p:txBody>
      </p:sp>
      <p:sp>
        <p:nvSpPr>
          <p:cNvPr id="28" name="Rectangle 27"/>
          <p:cNvSpPr/>
          <p:nvPr/>
        </p:nvSpPr>
        <p:spPr>
          <a:xfrm>
            <a:off x="10195560" y="173736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95560" y="1737360"/>
            <a:ext cx="1463040" cy="292608"/>
          </a:xfrm>
          <a:prstGeom prst="rect">
            <a:avLst/>
          </a:prstGeom>
          <a:noFill/>
        </p:spPr>
        <p:txBody>
          <a:bodyPr wrap="none">
            <a:spAutoFit/>
          </a:bodyPr>
          <a:lstStyle/>
          <a:p>
            <a:pPr algn="ctr"/>
            <a:r>
              <a:rPr sz="1000" b="1">
                <a:solidFill>
                  <a:srgbClr val="FFFFFF"/>
                </a:solidFill>
              </a:rPr>
              <a:t>Sonnet 4.6</a:t>
            </a:r>
          </a:p>
        </p:txBody>
      </p:sp>
      <p:sp>
        <p:nvSpPr>
          <p:cNvPr id="30" name="TextBox 29"/>
          <p:cNvSpPr txBox="1"/>
          <p:nvPr/>
        </p:nvSpPr>
        <p:spPr>
          <a:xfrm>
            <a:off x="6400800" y="2103120"/>
            <a:ext cx="5303520" cy="594360"/>
          </a:xfrm>
          <a:prstGeom prst="rect">
            <a:avLst/>
          </a:prstGeom>
          <a:noFill/>
        </p:spPr>
        <p:txBody>
          <a:bodyPr wrap="square">
            <a:spAutoFit/>
          </a:bodyPr>
          <a:lstStyle/>
          <a:p>
            <a:pPr algn="l"/>
            <a:r>
              <a:rPr sz="1100" b="0" i="0">
                <a:solidFill>
                  <a:srgbClr val="1A1A2E"/>
                </a:solidFill>
              </a:rPr>
              <a:t>700–1000 word SEO articles. H2 structure, pull quote, internal links, ≤70 char headline. CMS-ready JSON output.</a:t>
            </a:r>
          </a:p>
        </p:txBody>
      </p:sp>
      <p:sp>
        <p:nvSpPr>
          <p:cNvPr id="31" name="Rectangle 30"/>
          <p:cNvSpPr/>
          <p:nvPr/>
        </p:nvSpPr>
        <p:spPr>
          <a:xfrm>
            <a:off x="6263640" y="288036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953512"/>
            <a:ext cx="3657600" cy="347472"/>
          </a:xfrm>
          <a:prstGeom prst="rect">
            <a:avLst/>
          </a:prstGeom>
          <a:noFill/>
        </p:spPr>
        <p:txBody>
          <a:bodyPr wrap="square">
            <a:spAutoFit/>
          </a:bodyPr>
          <a:lstStyle/>
          <a:p>
            <a:pPr algn="l"/>
            <a:r>
              <a:rPr sz="1400" b="1" i="0">
                <a:solidFill>
                  <a:srgbClr val="6B2D8B"/>
                </a:solidFill>
              </a:rPr>
              <a:t>🖥  Platform Agents ×5</a:t>
            </a:r>
          </a:p>
        </p:txBody>
      </p:sp>
      <p:sp>
        <p:nvSpPr>
          <p:cNvPr id="33" name="Rectangle 32"/>
          <p:cNvSpPr/>
          <p:nvPr/>
        </p:nvSpPr>
        <p:spPr>
          <a:xfrm>
            <a:off x="10195560" y="297180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95560" y="2971800"/>
            <a:ext cx="1463040" cy="292608"/>
          </a:xfrm>
          <a:prstGeom prst="rect">
            <a:avLst/>
          </a:prstGeom>
          <a:noFill/>
        </p:spPr>
        <p:txBody>
          <a:bodyPr wrap="none">
            <a:spAutoFit/>
          </a:bodyPr>
          <a:lstStyle/>
          <a:p>
            <a:pPr algn="ctr"/>
            <a:r>
              <a:rPr sz="1000" b="1">
                <a:solidFill>
                  <a:srgbClr val="FFFFFF"/>
                </a:solidFill>
              </a:rPr>
              <a:t>Sonnet 4.6</a:t>
            </a:r>
          </a:p>
        </p:txBody>
      </p:sp>
      <p:sp>
        <p:nvSpPr>
          <p:cNvPr id="35" name="TextBox 34"/>
          <p:cNvSpPr txBox="1"/>
          <p:nvPr/>
        </p:nvSpPr>
        <p:spPr>
          <a:xfrm>
            <a:off x="6400800" y="3337560"/>
            <a:ext cx="5303520" cy="594360"/>
          </a:xfrm>
          <a:prstGeom prst="rect">
            <a:avLst/>
          </a:prstGeom>
          <a:noFill/>
        </p:spPr>
        <p:txBody>
          <a:bodyPr wrap="square">
            <a:spAutoFit/>
          </a:bodyPr>
          <a:lstStyle/>
          <a:p>
            <a:pPr algn="l"/>
            <a:r>
              <a:rPr sz="1100" b="0" i="0">
                <a:solidFill>
                  <a:srgbClr val="1A1A2E"/>
                </a:solidFill>
              </a:rPr>
              <a:t>Twitter (≤280 chars + thread), Instagram (story slides + reel script), YouTube, LinkedIn, Housing.com News.</a:t>
            </a:r>
          </a:p>
        </p:txBody>
      </p:sp>
      <p:sp>
        <p:nvSpPr>
          <p:cNvPr id="36" name="Rectangle 35"/>
          <p:cNvSpPr/>
          <p:nvPr/>
        </p:nvSpPr>
        <p:spPr>
          <a:xfrm>
            <a:off x="6263640" y="411480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4187952"/>
            <a:ext cx="3657600" cy="347472"/>
          </a:xfrm>
          <a:prstGeom prst="rect">
            <a:avLst/>
          </a:prstGeom>
          <a:noFill/>
        </p:spPr>
        <p:txBody>
          <a:bodyPr wrap="square">
            <a:spAutoFit/>
          </a:bodyPr>
          <a:lstStyle/>
          <a:p>
            <a:pPr algn="l"/>
            <a:r>
              <a:rPr sz="1400" b="1" i="0">
                <a:solidFill>
                  <a:srgbClr val="6B2D8B"/>
                </a:solidFill>
              </a:rPr>
              <a:t>🛡  QA Engine</a:t>
            </a:r>
          </a:p>
        </p:txBody>
      </p:sp>
      <p:sp>
        <p:nvSpPr>
          <p:cNvPr id="38" name="Rectangle 37"/>
          <p:cNvSpPr/>
          <p:nvPr/>
        </p:nvSpPr>
        <p:spPr>
          <a:xfrm>
            <a:off x="10195560" y="420624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4206240"/>
            <a:ext cx="1463040" cy="292608"/>
          </a:xfrm>
          <a:prstGeom prst="rect">
            <a:avLst/>
          </a:prstGeom>
          <a:noFill/>
        </p:spPr>
        <p:txBody>
          <a:bodyPr wrap="none">
            <a:spAutoFit/>
          </a:bodyPr>
          <a:lstStyle/>
          <a:p>
            <a:pPr algn="ctr"/>
            <a:r>
              <a:rPr sz="1000" b="1">
                <a:solidFill>
                  <a:srgbClr val="FFFFFF"/>
                </a:solidFill>
              </a:rPr>
              <a:t>Multi-model</a:t>
            </a:r>
          </a:p>
        </p:txBody>
      </p:sp>
      <p:sp>
        <p:nvSpPr>
          <p:cNvPr id="40" name="TextBox 39"/>
          <p:cNvSpPr txBox="1"/>
          <p:nvPr/>
        </p:nvSpPr>
        <p:spPr>
          <a:xfrm>
            <a:off x="6400800" y="4572000"/>
            <a:ext cx="5303520" cy="594360"/>
          </a:xfrm>
          <a:prstGeom prst="rect">
            <a:avLst/>
          </a:prstGeom>
          <a:noFill/>
        </p:spPr>
        <p:txBody>
          <a:bodyPr wrap="square">
            <a:spAutoFit/>
          </a:bodyPr>
          <a:lstStyle/>
          <a:p>
            <a:pPr algn="l"/>
            <a:r>
              <a:rPr sz="1100" b="0" i="0">
                <a:solidFill>
                  <a:srgbClr val="1A1A2E"/>
                </a:solidFill>
              </a:rPr>
              <a:t>3-pass: Safety gate (binary, Gemini Flash) → Quality scoring (7 dimensions, Sonnet) → Engagement prediction (Opus).</a:t>
            </a:r>
          </a:p>
        </p:txBody>
      </p:sp>
      <p:sp>
        <p:nvSpPr>
          <p:cNvPr id="41" name="Rectangle 40"/>
          <p:cNvSpPr/>
          <p:nvPr/>
        </p:nvSpPr>
        <p:spPr>
          <a:xfrm>
            <a:off x="6263640" y="5349240"/>
            <a:ext cx="5577840" cy="1097280"/>
          </a:xfrm>
          <a:prstGeom prst="rect">
            <a:avLst/>
          </a:prstGeom>
          <a:solidFill>
            <a:srgbClr val="F5F5F5"/>
          </a:solidFill>
          <a:ln w="6350">
            <a:solidFill>
              <a:srgbClr val="DDC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422392"/>
            <a:ext cx="3657600" cy="347472"/>
          </a:xfrm>
          <a:prstGeom prst="rect">
            <a:avLst/>
          </a:prstGeom>
          <a:noFill/>
        </p:spPr>
        <p:txBody>
          <a:bodyPr wrap="square">
            <a:spAutoFit/>
          </a:bodyPr>
          <a:lstStyle/>
          <a:p>
            <a:pPr algn="l"/>
            <a:r>
              <a:rPr sz="1400" b="1" i="0">
                <a:solidFill>
                  <a:srgbClr val="6B2D8B"/>
                </a:solidFill>
              </a:rPr>
              <a:t>📤  Publisher</a:t>
            </a:r>
          </a:p>
        </p:txBody>
      </p:sp>
      <p:sp>
        <p:nvSpPr>
          <p:cNvPr id="43" name="Rectangle 42"/>
          <p:cNvSpPr/>
          <p:nvPr/>
        </p:nvSpPr>
        <p:spPr>
          <a:xfrm>
            <a:off x="10195560" y="5440680"/>
            <a:ext cx="1463040" cy="29260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5440680"/>
            <a:ext cx="1463040" cy="292608"/>
          </a:xfrm>
          <a:prstGeom prst="rect">
            <a:avLst/>
          </a:prstGeom>
          <a:noFill/>
        </p:spPr>
        <p:txBody>
          <a:bodyPr wrap="none">
            <a:spAutoFit/>
          </a:bodyPr>
          <a:lstStyle/>
          <a:p>
            <a:pPr algn="ctr"/>
            <a:r>
              <a:rPr sz="1000" b="1">
                <a:solidFill>
                  <a:srgbClr val="FFFFFF"/>
                </a:solidFill>
              </a:rPr>
              <a:t>No LLM</a:t>
            </a:r>
          </a:p>
        </p:txBody>
      </p:sp>
      <p:sp>
        <p:nvSpPr>
          <p:cNvPr id="45" name="TextBox 44"/>
          <p:cNvSpPr txBox="1"/>
          <p:nvPr/>
        </p:nvSpPr>
        <p:spPr>
          <a:xfrm>
            <a:off x="6400800" y="5806440"/>
            <a:ext cx="5303520" cy="594360"/>
          </a:xfrm>
          <a:prstGeom prst="rect">
            <a:avLst/>
          </a:prstGeom>
          <a:noFill/>
        </p:spPr>
        <p:txBody>
          <a:bodyPr wrap="square">
            <a:spAutoFit/>
          </a:bodyPr>
          <a:lstStyle/>
          <a:p>
            <a:pPr algn="l"/>
            <a:r>
              <a:rPr sz="1100" b="0" i="0">
                <a:solidFill>
                  <a:srgbClr val="1A1A2E"/>
                </a:solidFill>
              </a:rPr>
              <a:t>Deterministic. Saves to disk (dry run) or posts live. Slack summary per run. retry=None (non-idempotent).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Sample Output: Twitter Thread  (Auto-generated, RERA Topic)</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6</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457200" y="1463040"/>
            <a:ext cx="6858000" cy="4937760"/>
          </a:xfrm>
          <a:prstGeom prst="rect">
            <a:avLst/>
          </a:prstGeom>
          <a:solidFill>
            <a:srgbClr val="F8F8FF"/>
          </a:solidFill>
          <a:ln w="635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4572000" cy="365760"/>
          </a:xfrm>
          <a:prstGeom prst="rect">
            <a:avLst/>
          </a:prstGeom>
          <a:noFill/>
        </p:spPr>
        <p:txBody>
          <a:bodyPr wrap="square">
            <a:spAutoFit/>
          </a:bodyPr>
          <a:lstStyle/>
          <a:p>
            <a:pPr algn="l"/>
            <a:r>
              <a:rPr sz="1300" b="1" i="0">
                <a:solidFill>
                  <a:srgbClr val="6B2D8B"/>
                </a:solidFill>
              </a:rPr>
              <a:t>@HousingDotCom  ·  Thread</a:t>
            </a:r>
          </a:p>
        </p:txBody>
      </p:sp>
      <p:sp>
        <p:nvSpPr>
          <p:cNvPr id="8" name="TextBox 7"/>
          <p:cNvSpPr txBox="1"/>
          <p:nvPr/>
        </p:nvSpPr>
        <p:spPr>
          <a:xfrm>
            <a:off x="640080" y="2011680"/>
            <a:ext cx="6400800" cy="2011680"/>
          </a:xfrm>
          <a:prstGeom prst="rect">
            <a:avLst/>
          </a:prstGeom>
          <a:noFill/>
        </p:spPr>
        <p:txBody>
          <a:bodyPr wrap="square">
            <a:spAutoFit/>
          </a:bodyPr>
          <a:lstStyle/>
          <a:p>
            <a:pPr algn="l"/>
            <a:r>
              <a:rPr sz="1300" b="0" i="0">
                <a:solidFill>
                  <a:srgbClr val="1A1A2E"/>
                </a:solidFill>
              </a:rPr>
              <a:t>🚨 8,212 projects just received RERA notices in Maharashtra alone.
Is your dream home on the list?
Bank accounts frozen. Sales halted. Registrations cancelled.
Here's how to check before it's too late 👇
https://housing.com/in/buy/mumbai</a:t>
            </a:r>
          </a:p>
        </p:txBody>
      </p:sp>
      <p:sp>
        <p:nvSpPr>
          <p:cNvPr id="9" name="TextBox 8"/>
          <p:cNvSpPr txBox="1"/>
          <p:nvPr/>
        </p:nvSpPr>
        <p:spPr>
          <a:xfrm>
            <a:off x="640080" y="4114800"/>
            <a:ext cx="6400800" cy="1645920"/>
          </a:xfrm>
          <a:prstGeom prst="rect">
            <a:avLst/>
          </a:prstGeom>
          <a:noFill/>
        </p:spPr>
        <p:txBody>
          <a:bodyPr wrap="square">
            <a:spAutoFit/>
          </a:bodyPr>
          <a:lstStyle/>
          <a:p>
            <a:pPr algn="l"/>
            <a:r>
              <a:rPr sz="1200" b="0" i="0">
                <a:solidFill>
                  <a:srgbClr val="1A1A2E"/>
                </a:solidFill>
              </a:rPr>
              <a:t>2/ In the last 30 days, 3 regulators dropped the hammer:
• MahaRERA: 8,212 notices (Mumbai + Pune)
• Telangana RERA: 11% refund ordered on defrauded buyers
• Haryana RERA: ₹52 crore penalty threat</a:t>
            </a:r>
          </a:p>
        </p:txBody>
      </p:sp>
      <p:sp>
        <p:nvSpPr>
          <p:cNvPr id="10" name="TextBox 9"/>
          <p:cNvSpPr txBox="1"/>
          <p:nvPr/>
        </p:nvSpPr>
        <p:spPr>
          <a:xfrm>
            <a:off x="640080" y="5989320"/>
            <a:ext cx="6400800" cy="365760"/>
          </a:xfrm>
          <a:prstGeom prst="rect">
            <a:avLst/>
          </a:prstGeom>
          <a:noFill/>
        </p:spPr>
        <p:txBody>
          <a:bodyPr wrap="square">
            <a:spAutoFit/>
          </a:bodyPr>
          <a:lstStyle/>
          <a:p>
            <a:pPr algn="l"/>
            <a:r>
              <a:rPr sz="1200" b="1" i="0">
                <a:solidFill>
                  <a:srgbClr val="27AE60"/>
                </a:solidFill>
              </a:rPr>
              <a:t>✅ QA Score: 6.4 / 10    ✅ Safety: PASSED    📊 Pred. ER: 7.15%</a:t>
            </a:r>
          </a:p>
        </p:txBody>
      </p:sp>
      <p:sp>
        <p:nvSpPr>
          <p:cNvPr id="11" name="Rectangle 10"/>
          <p:cNvSpPr/>
          <p:nvPr/>
        </p:nvSpPr>
        <p:spPr>
          <a:xfrm>
            <a:off x="7498079" y="1463040"/>
            <a:ext cx="4389120" cy="4937760"/>
          </a:xfrm>
          <a:prstGeom prst="rect">
            <a:avLst/>
          </a:prstGeom>
          <a:solidFill>
            <a:srgbClr val="3A1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645920"/>
            <a:ext cx="1371600" cy="502920"/>
          </a:xfrm>
          <a:prstGeom prst="rect">
            <a:avLst/>
          </a:prstGeom>
          <a:noFill/>
        </p:spPr>
        <p:txBody>
          <a:bodyPr wrap="square">
            <a:spAutoFit/>
          </a:bodyPr>
          <a:lstStyle/>
          <a:p>
            <a:pPr algn="l"/>
            <a:r>
              <a:rPr sz="1100" b="1" i="0">
                <a:solidFill>
                  <a:srgbClr val="E8D5F5"/>
                </a:solidFill>
              </a:rPr>
              <a:t>Model</a:t>
            </a:r>
          </a:p>
        </p:txBody>
      </p:sp>
      <p:sp>
        <p:nvSpPr>
          <p:cNvPr id="13" name="TextBox 12"/>
          <p:cNvSpPr txBox="1"/>
          <p:nvPr/>
        </p:nvSpPr>
        <p:spPr>
          <a:xfrm>
            <a:off x="9052560" y="1645920"/>
            <a:ext cx="2651760" cy="502920"/>
          </a:xfrm>
          <a:prstGeom prst="rect">
            <a:avLst/>
          </a:prstGeom>
          <a:noFill/>
        </p:spPr>
        <p:txBody>
          <a:bodyPr wrap="square">
            <a:spAutoFit/>
          </a:bodyPr>
          <a:lstStyle/>
          <a:p>
            <a:pPr algn="l"/>
            <a:r>
              <a:rPr sz="1100" b="0" i="0">
                <a:solidFill>
                  <a:srgbClr val="FFFFFF"/>
                </a:solidFill>
              </a:rPr>
              <a:t>Opus 4.7 (creative tier)</a:t>
            </a:r>
          </a:p>
        </p:txBody>
      </p:sp>
      <p:sp>
        <p:nvSpPr>
          <p:cNvPr id="14" name="TextBox 13"/>
          <p:cNvSpPr txBox="1"/>
          <p:nvPr/>
        </p:nvSpPr>
        <p:spPr>
          <a:xfrm>
            <a:off x="7680960" y="2286000"/>
            <a:ext cx="1371600" cy="502920"/>
          </a:xfrm>
          <a:prstGeom prst="rect">
            <a:avLst/>
          </a:prstGeom>
          <a:noFill/>
        </p:spPr>
        <p:txBody>
          <a:bodyPr wrap="square">
            <a:spAutoFit/>
          </a:bodyPr>
          <a:lstStyle/>
          <a:p>
            <a:pPr algn="l"/>
            <a:r>
              <a:rPr sz="1100" b="1" i="0">
                <a:solidFill>
                  <a:srgbClr val="E8D5F5"/>
                </a:solidFill>
              </a:rPr>
              <a:t>Hook type</a:t>
            </a:r>
          </a:p>
        </p:txBody>
      </p:sp>
      <p:sp>
        <p:nvSpPr>
          <p:cNvPr id="15" name="TextBox 14"/>
          <p:cNvSpPr txBox="1"/>
          <p:nvPr/>
        </p:nvSpPr>
        <p:spPr>
          <a:xfrm>
            <a:off x="9052560" y="2286000"/>
            <a:ext cx="2651760" cy="502920"/>
          </a:xfrm>
          <a:prstGeom prst="rect">
            <a:avLst/>
          </a:prstGeom>
          <a:noFill/>
        </p:spPr>
        <p:txBody>
          <a:bodyPr wrap="square">
            <a:spAutoFit/>
          </a:bodyPr>
          <a:lstStyle/>
          <a:p>
            <a:pPr algn="l"/>
            <a:r>
              <a:rPr sz="1100" b="0" i="0">
                <a:solidFill>
                  <a:srgbClr val="FFFFFF"/>
                </a:solidFill>
              </a:rPr>
              <a:t>Stat-based urgency</a:t>
            </a:r>
          </a:p>
        </p:txBody>
      </p:sp>
      <p:sp>
        <p:nvSpPr>
          <p:cNvPr id="16" name="TextBox 15"/>
          <p:cNvSpPr txBox="1"/>
          <p:nvPr/>
        </p:nvSpPr>
        <p:spPr>
          <a:xfrm>
            <a:off x="7680960" y="2926080"/>
            <a:ext cx="1371600" cy="502920"/>
          </a:xfrm>
          <a:prstGeom prst="rect">
            <a:avLst/>
          </a:prstGeom>
          <a:noFill/>
        </p:spPr>
        <p:txBody>
          <a:bodyPr wrap="square">
            <a:spAutoFit/>
          </a:bodyPr>
          <a:lstStyle/>
          <a:p>
            <a:pPr algn="l"/>
            <a:r>
              <a:rPr sz="1100" b="1" i="0">
                <a:solidFill>
                  <a:srgbClr val="E8D5F5"/>
                </a:solidFill>
              </a:rPr>
              <a:t>Platform</a:t>
            </a:r>
          </a:p>
        </p:txBody>
      </p:sp>
      <p:sp>
        <p:nvSpPr>
          <p:cNvPr id="17" name="TextBox 16"/>
          <p:cNvSpPr txBox="1"/>
          <p:nvPr/>
        </p:nvSpPr>
        <p:spPr>
          <a:xfrm>
            <a:off x="9052560" y="2926080"/>
            <a:ext cx="2651760" cy="502920"/>
          </a:xfrm>
          <a:prstGeom prst="rect">
            <a:avLst/>
          </a:prstGeom>
          <a:noFill/>
        </p:spPr>
        <p:txBody>
          <a:bodyPr wrap="square">
            <a:spAutoFit/>
          </a:bodyPr>
          <a:lstStyle/>
          <a:p>
            <a:pPr algn="l"/>
            <a:r>
              <a:rPr sz="1100" b="0" i="0">
                <a:solidFill>
                  <a:srgbClr val="FFFFFF"/>
                </a:solidFill>
              </a:rPr>
              <a:t>Twitter thread (4 parts)</a:t>
            </a:r>
          </a:p>
        </p:txBody>
      </p:sp>
      <p:sp>
        <p:nvSpPr>
          <p:cNvPr id="18" name="TextBox 17"/>
          <p:cNvSpPr txBox="1"/>
          <p:nvPr/>
        </p:nvSpPr>
        <p:spPr>
          <a:xfrm>
            <a:off x="7680960" y="3566159"/>
            <a:ext cx="1371600" cy="502920"/>
          </a:xfrm>
          <a:prstGeom prst="rect">
            <a:avLst/>
          </a:prstGeom>
          <a:noFill/>
        </p:spPr>
        <p:txBody>
          <a:bodyPr wrap="square">
            <a:spAutoFit/>
          </a:bodyPr>
          <a:lstStyle/>
          <a:p>
            <a:pPr algn="l"/>
            <a:r>
              <a:rPr sz="1100" b="1" i="0">
                <a:solidFill>
                  <a:srgbClr val="E8D5F5"/>
                </a:solidFill>
              </a:rPr>
              <a:t>Chars</a:t>
            </a:r>
          </a:p>
        </p:txBody>
      </p:sp>
      <p:sp>
        <p:nvSpPr>
          <p:cNvPr id="19" name="TextBox 18"/>
          <p:cNvSpPr txBox="1"/>
          <p:nvPr/>
        </p:nvSpPr>
        <p:spPr>
          <a:xfrm>
            <a:off x="9052560" y="3566159"/>
            <a:ext cx="2651760" cy="502920"/>
          </a:xfrm>
          <a:prstGeom prst="rect">
            <a:avLst/>
          </a:prstGeom>
          <a:noFill/>
        </p:spPr>
        <p:txBody>
          <a:bodyPr wrap="square">
            <a:spAutoFit/>
          </a:bodyPr>
          <a:lstStyle/>
          <a:p>
            <a:pPr algn="l"/>
            <a:r>
              <a:rPr sz="1100" b="0" i="0">
                <a:solidFill>
                  <a:srgbClr val="FFFFFF"/>
                </a:solidFill>
              </a:rPr>
              <a:t>238 / 280 (✓ within limit)</a:t>
            </a:r>
          </a:p>
        </p:txBody>
      </p:sp>
      <p:sp>
        <p:nvSpPr>
          <p:cNvPr id="20" name="TextBox 19"/>
          <p:cNvSpPr txBox="1"/>
          <p:nvPr/>
        </p:nvSpPr>
        <p:spPr>
          <a:xfrm>
            <a:off x="7680960" y="4206240"/>
            <a:ext cx="1371600" cy="502920"/>
          </a:xfrm>
          <a:prstGeom prst="rect">
            <a:avLst/>
          </a:prstGeom>
          <a:noFill/>
        </p:spPr>
        <p:txBody>
          <a:bodyPr wrap="square">
            <a:spAutoFit/>
          </a:bodyPr>
          <a:lstStyle/>
          <a:p>
            <a:pPr algn="l"/>
            <a:r>
              <a:rPr sz="1100" b="1" i="0">
                <a:solidFill>
                  <a:srgbClr val="E8D5F5"/>
                </a:solidFill>
              </a:rPr>
              <a:t>Hashtags</a:t>
            </a:r>
          </a:p>
        </p:txBody>
      </p:sp>
      <p:sp>
        <p:nvSpPr>
          <p:cNvPr id="21" name="TextBox 20"/>
          <p:cNvSpPr txBox="1"/>
          <p:nvPr/>
        </p:nvSpPr>
        <p:spPr>
          <a:xfrm>
            <a:off x="9052560" y="4206240"/>
            <a:ext cx="2651760" cy="502920"/>
          </a:xfrm>
          <a:prstGeom prst="rect">
            <a:avLst/>
          </a:prstGeom>
          <a:noFill/>
        </p:spPr>
        <p:txBody>
          <a:bodyPr wrap="square">
            <a:spAutoFit/>
          </a:bodyPr>
          <a:lstStyle/>
          <a:p>
            <a:pPr algn="l"/>
            <a:r>
              <a:rPr sz="1100" b="0" i="0">
                <a:solidFill>
                  <a:srgbClr val="FFFFFF"/>
                </a:solidFill>
              </a:rPr>
              <a:t>#RERA #MahaRERA + 3 more</a:t>
            </a:r>
          </a:p>
        </p:txBody>
      </p:sp>
      <p:sp>
        <p:nvSpPr>
          <p:cNvPr id="22" name="TextBox 21"/>
          <p:cNvSpPr txBox="1"/>
          <p:nvPr/>
        </p:nvSpPr>
        <p:spPr>
          <a:xfrm>
            <a:off x="7680960" y="4846320"/>
            <a:ext cx="1371600" cy="502920"/>
          </a:xfrm>
          <a:prstGeom prst="rect">
            <a:avLst/>
          </a:prstGeom>
          <a:noFill/>
        </p:spPr>
        <p:txBody>
          <a:bodyPr wrap="square">
            <a:spAutoFit/>
          </a:bodyPr>
          <a:lstStyle/>
          <a:p>
            <a:pPr algn="l"/>
            <a:r>
              <a:rPr sz="1100" b="1" i="0">
                <a:solidFill>
                  <a:srgbClr val="E8D5F5"/>
                </a:solidFill>
              </a:rPr>
              <a:t>Links</a:t>
            </a:r>
          </a:p>
        </p:txBody>
      </p:sp>
      <p:sp>
        <p:nvSpPr>
          <p:cNvPr id="23" name="TextBox 22"/>
          <p:cNvSpPr txBox="1"/>
          <p:nvPr/>
        </p:nvSpPr>
        <p:spPr>
          <a:xfrm>
            <a:off x="9052560" y="4846320"/>
            <a:ext cx="2651760" cy="502920"/>
          </a:xfrm>
          <a:prstGeom prst="rect">
            <a:avLst/>
          </a:prstGeom>
          <a:noFill/>
        </p:spPr>
        <p:txBody>
          <a:bodyPr wrap="square">
            <a:spAutoFit/>
          </a:bodyPr>
          <a:lstStyle/>
          <a:p>
            <a:pPr algn="l"/>
            <a:r>
              <a:rPr sz="1100" b="0" i="0">
                <a:solidFill>
                  <a:srgbClr val="FFFFFF"/>
                </a:solidFill>
              </a:rPr>
              <a:t>2 internal (Mumbai, Pune SRP)</a:t>
            </a:r>
          </a:p>
        </p:txBody>
      </p:sp>
      <p:sp>
        <p:nvSpPr>
          <p:cNvPr id="24" name="TextBox 23"/>
          <p:cNvSpPr txBox="1"/>
          <p:nvPr/>
        </p:nvSpPr>
        <p:spPr>
          <a:xfrm>
            <a:off x="7680960" y="5486399"/>
            <a:ext cx="1371600" cy="502920"/>
          </a:xfrm>
          <a:prstGeom prst="rect">
            <a:avLst/>
          </a:prstGeom>
          <a:noFill/>
        </p:spPr>
        <p:txBody>
          <a:bodyPr wrap="square">
            <a:spAutoFit/>
          </a:bodyPr>
          <a:lstStyle/>
          <a:p>
            <a:pPr algn="l"/>
            <a:r>
              <a:rPr sz="1100" b="1" i="0">
                <a:solidFill>
                  <a:srgbClr val="E8D5F5"/>
                </a:solidFill>
              </a:rPr>
              <a:t>Run time</a:t>
            </a:r>
          </a:p>
        </p:txBody>
      </p:sp>
      <p:sp>
        <p:nvSpPr>
          <p:cNvPr id="25" name="TextBox 24"/>
          <p:cNvSpPr txBox="1"/>
          <p:nvPr/>
        </p:nvSpPr>
        <p:spPr>
          <a:xfrm>
            <a:off x="9052560" y="5486399"/>
            <a:ext cx="2651760" cy="502920"/>
          </a:xfrm>
          <a:prstGeom prst="rect">
            <a:avLst/>
          </a:prstGeom>
          <a:noFill/>
        </p:spPr>
        <p:txBody>
          <a:bodyPr wrap="square">
            <a:spAutoFit/>
          </a:bodyPr>
          <a:lstStyle/>
          <a:p>
            <a:pPr algn="l"/>
            <a:r>
              <a:rPr sz="1100" b="0" i="0">
                <a:solidFill>
                  <a:srgbClr val="FFFFFF"/>
                </a:solidFill>
              </a:rPr>
              <a:t>~8s for creative node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Sample Output: Instagram  (Branded Card + Story Slides + Reel Script)</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7</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457200" y="1463040"/>
            <a:ext cx="2926080" cy="29260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2743200" cy="365760"/>
          </a:xfrm>
          <a:prstGeom prst="rect">
            <a:avLst/>
          </a:prstGeom>
          <a:noFill/>
        </p:spPr>
        <p:txBody>
          <a:bodyPr wrap="square">
            <a:spAutoFit/>
          </a:bodyPr>
          <a:lstStyle/>
          <a:p>
            <a:pPr algn="l"/>
            <a:r>
              <a:rPr sz="1100" b="0" i="1">
                <a:solidFill>
                  <a:srgbClr val="FFFFFF"/>
                </a:solidFill>
              </a:rPr>
              <a:t>housing.com</a:t>
            </a:r>
          </a:p>
        </p:txBody>
      </p:sp>
      <p:sp>
        <p:nvSpPr>
          <p:cNvPr id="8" name="TextBox 7"/>
          <p:cNvSpPr txBox="1"/>
          <p:nvPr/>
        </p:nvSpPr>
        <p:spPr>
          <a:xfrm>
            <a:off x="548640" y="2011680"/>
            <a:ext cx="2743200" cy="1645920"/>
          </a:xfrm>
          <a:prstGeom prst="rect">
            <a:avLst/>
          </a:prstGeom>
          <a:noFill/>
        </p:spPr>
        <p:txBody>
          <a:bodyPr wrap="square">
            <a:spAutoFit/>
          </a:bodyPr>
          <a:lstStyle/>
          <a:p>
            <a:pPr algn="l"/>
            <a:r>
              <a:rPr sz="1600" b="1" i="0">
                <a:solidFill>
                  <a:srgbClr val="FFFFFF"/>
                </a:solidFill>
              </a:rPr>
              <a:t>⚠️ 8,212 projects
just received
RERA notices.
Is YOUR project
safe?</a:t>
            </a:r>
          </a:p>
        </p:txBody>
      </p:sp>
      <p:sp>
        <p:nvSpPr>
          <p:cNvPr id="9" name="TextBox 8"/>
          <p:cNvSpPr txBox="1"/>
          <p:nvPr/>
        </p:nvSpPr>
        <p:spPr>
          <a:xfrm>
            <a:off x="548640" y="3840480"/>
            <a:ext cx="2743200" cy="365760"/>
          </a:xfrm>
          <a:prstGeom prst="rect">
            <a:avLst/>
          </a:prstGeom>
          <a:noFill/>
        </p:spPr>
        <p:txBody>
          <a:bodyPr wrap="square">
            <a:spAutoFit/>
          </a:bodyPr>
          <a:lstStyle/>
          <a:p>
            <a:pPr algn="l"/>
            <a:r>
              <a:rPr sz="1100" b="0" i="0">
                <a:solidFill>
                  <a:srgbClr val="E8D5F5"/>
                </a:solidFill>
              </a:rPr>
              <a:t>Check. Verify. Buy Smart.</a:t>
            </a:r>
          </a:p>
        </p:txBody>
      </p:sp>
      <p:sp>
        <p:nvSpPr>
          <p:cNvPr id="10" name="TextBox 9"/>
          <p:cNvSpPr txBox="1"/>
          <p:nvPr/>
        </p:nvSpPr>
        <p:spPr>
          <a:xfrm>
            <a:off x="3566160" y="1508760"/>
            <a:ext cx="8229600" cy="365760"/>
          </a:xfrm>
          <a:prstGeom prst="rect">
            <a:avLst/>
          </a:prstGeom>
          <a:noFill/>
        </p:spPr>
        <p:txBody>
          <a:bodyPr wrap="square">
            <a:spAutoFit/>
          </a:bodyPr>
          <a:lstStyle/>
          <a:p>
            <a:pPr algn="l"/>
            <a:r>
              <a:rPr sz="1300" b="1" i="0">
                <a:solidFill>
                  <a:srgbClr val="6B2D8B"/>
                </a:solidFill>
              </a:rPr>
              <a:t>Story Slides (auto-generated):</a:t>
            </a:r>
          </a:p>
        </p:txBody>
      </p:sp>
      <p:sp>
        <p:nvSpPr>
          <p:cNvPr id="11" name="Rectangle 10"/>
          <p:cNvSpPr/>
          <p:nvPr/>
        </p:nvSpPr>
        <p:spPr>
          <a:xfrm>
            <a:off x="3566160" y="1920240"/>
            <a:ext cx="228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920240"/>
            <a:ext cx="7955279" cy="411480"/>
          </a:xfrm>
          <a:prstGeom prst="rect">
            <a:avLst/>
          </a:prstGeom>
          <a:noFill/>
        </p:spPr>
        <p:txBody>
          <a:bodyPr wrap="square">
            <a:spAutoFit/>
          </a:bodyPr>
          <a:lstStyle/>
          <a:p>
            <a:pPr algn="l"/>
            <a:r>
              <a:rPr sz="1100" b="0" i="0">
                <a:solidFill>
                  <a:srgbClr val="1A1A2E"/>
                </a:solidFill>
              </a:rPr>
              <a:t>Slide 1 — HOOK: '8,212 housing projects. RERA notices. Is YOUR project safe? Swipe →'</a:t>
            </a:r>
          </a:p>
        </p:txBody>
      </p:sp>
      <p:sp>
        <p:nvSpPr>
          <p:cNvPr id="13" name="Rectangle 12"/>
          <p:cNvSpPr/>
          <p:nvPr/>
        </p:nvSpPr>
        <p:spPr>
          <a:xfrm>
            <a:off x="3566160" y="2468880"/>
            <a:ext cx="228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2468880"/>
            <a:ext cx="7955279" cy="411480"/>
          </a:xfrm>
          <a:prstGeom prst="rect">
            <a:avLst/>
          </a:prstGeom>
          <a:noFill/>
        </p:spPr>
        <p:txBody>
          <a:bodyPr wrap="square">
            <a:spAutoFit/>
          </a:bodyPr>
          <a:lstStyle/>
          <a:p>
            <a:pPr algn="l"/>
            <a:r>
              <a:rPr sz="1100" b="0" i="0">
                <a:solidFill>
                  <a:srgbClr val="1A1A2E"/>
                </a:solidFill>
              </a:rPr>
              <a:t>Slide 2 — THE CRACKDOWN: Maharashtra, Telangana, Haryana — all in 30 days</a:t>
            </a:r>
          </a:p>
        </p:txBody>
      </p:sp>
      <p:sp>
        <p:nvSpPr>
          <p:cNvPr id="15" name="Rectangle 14"/>
          <p:cNvSpPr/>
          <p:nvPr/>
        </p:nvSpPr>
        <p:spPr>
          <a:xfrm>
            <a:off x="3566160" y="3017520"/>
            <a:ext cx="228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3017520"/>
            <a:ext cx="7955279" cy="411480"/>
          </a:xfrm>
          <a:prstGeom prst="rect">
            <a:avLst/>
          </a:prstGeom>
          <a:noFill/>
        </p:spPr>
        <p:txBody>
          <a:bodyPr wrap="square">
            <a:spAutoFit/>
          </a:bodyPr>
          <a:lstStyle/>
          <a:p>
            <a:pPr algn="l"/>
            <a:r>
              <a:rPr sz="1100" b="0" i="0">
                <a:solidFill>
                  <a:srgbClr val="1A1A2E"/>
                </a:solidFill>
              </a:rPr>
              <a:t>Slide 3 — WHAT'S AT RISK: Bank accounts frozen, sales halted, ₹52Cr penalty</a:t>
            </a:r>
          </a:p>
        </p:txBody>
      </p:sp>
      <p:sp>
        <p:nvSpPr>
          <p:cNvPr id="17" name="Rectangle 16"/>
          <p:cNvSpPr/>
          <p:nvPr/>
        </p:nvSpPr>
        <p:spPr>
          <a:xfrm>
            <a:off x="3566160" y="3566160"/>
            <a:ext cx="228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3566160"/>
            <a:ext cx="7955279" cy="411480"/>
          </a:xfrm>
          <a:prstGeom prst="rect">
            <a:avLst/>
          </a:prstGeom>
          <a:noFill/>
        </p:spPr>
        <p:txBody>
          <a:bodyPr wrap="square">
            <a:spAutoFit/>
          </a:bodyPr>
          <a:lstStyle/>
          <a:p>
            <a:pPr algn="l"/>
            <a:r>
              <a:rPr sz="1100" b="0" i="0">
                <a:solidFill>
                  <a:srgbClr val="1A1A2E"/>
                </a:solidFill>
              </a:rPr>
              <a:t>Slide 4 — YOUR CHECKLIST: 5-step RERA verification guide</a:t>
            </a:r>
          </a:p>
        </p:txBody>
      </p:sp>
      <p:sp>
        <p:nvSpPr>
          <p:cNvPr id="19" name="Rectangle 18"/>
          <p:cNvSpPr/>
          <p:nvPr/>
        </p:nvSpPr>
        <p:spPr>
          <a:xfrm>
            <a:off x="3566160" y="4114800"/>
            <a:ext cx="228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4114800"/>
            <a:ext cx="7955279" cy="411480"/>
          </a:xfrm>
          <a:prstGeom prst="rect">
            <a:avLst/>
          </a:prstGeom>
          <a:noFill/>
        </p:spPr>
        <p:txBody>
          <a:bodyPr wrap="square">
            <a:spAutoFit/>
          </a:bodyPr>
          <a:lstStyle/>
          <a:p>
            <a:pPr algn="l"/>
            <a:r>
              <a:rPr sz="1100" b="0" i="0">
                <a:solidFill>
                  <a:srgbClr val="1A1A2E"/>
                </a:solidFill>
              </a:rPr>
              <a:t>Slide 5 — CTA: Search RERA-verified homes on Housing.com 🔗 Link in bio</a:t>
            </a:r>
          </a:p>
        </p:txBody>
      </p:sp>
      <p:sp>
        <p:nvSpPr>
          <p:cNvPr id="21" name="TextBox 20"/>
          <p:cNvSpPr txBox="1"/>
          <p:nvPr/>
        </p:nvSpPr>
        <p:spPr>
          <a:xfrm>
            <a:off x="3566160" y="4800600"/>
            <a:ext cx="8229600" cy="320040"/>
          </a:xfrm>
          <a:prstGeom prst="rect">
            <a:avLst/>
          </a:prstGeom>
          <a:noFill/>
        </p:spPr>
        <p:txBody>
          <a:bodyPr wrap="square">
            <a:spAutoFit/>
          </a:bodyPr>
          <a:lstStyle/>
          <a:p>
            <a:pPr algn="l"/>
            <a:r>
              <a:rPr sz="1300" b="1" i="0">
                <a:solidFill>
                  <a:srgbClr val="6B2D8B"/>
                </a:solidFill>
              </a:rPr>
              <a:t>Reel Concept:</a:t>
            </a:r>
          </a:p>
        </p:txBody>
      </p:sp>
      <p:sp>
        <p:nvSpPr>
          <p:cNvPr id="22" name="TextBox 21"/>
          <p:cNvSpPr txBox="1"/>
          <p:nvPr/>
        </p:nvSpPr>
        <p:spPr>
          <a:xfrm>
            <a:off x="3566160" y="5166360"/>
            <a:ext cx="8321040" cy="548640"/>
          </a:xfrm>
          <a:prstGeom prst="rect">
            <a:avLst/>
          </a:prstGeom>
          <a:noFill/>
        </p:spPr>
        <p:txBody>
          <a:bodyPr wrap="square">
            <a:spAutoFit/>
          </a:bodyPr>
          <a:lstStyle/>
          <a:p>
            <a:pPr algn="l"/>
            <a:r>
              <a:rPr sz="1100" b="0" i="0">
                <a:solidFill>
                  <a:srgbClr val="1A1A2E"/>
                </a:solidFill>
              </a:rPr>
              <a:t>0–4s: dramatic text reveal 'Is your dream home on this list?'  |  5–22s: on-camera presenter outside Mumbai building, 5-step checklist flash  |  23–28s: Housing.com app CTA</a:t>
            </a:r>
          </a:p>
        </p:txBody>
      </p:sp>
      <p:sp>
        <p:nvSpPr>
          <p:cNvPr id="23" name="TextBox 22"/>
          <p:cNvSpPr txBox="1"/>
          <p:nvPr/>
        </p:nvSpPr>
        <p:spPr>
          <a:xfrm>
            <a:off x="457200" y="5989320"/>
            <a:ext cx="10972800" cy="365760"/>
          </a:xfrm>
          <a:prstGeom prst="rect">
            <a:avLst/>
          </a:prstGeom>
          <a:noFill/>
        </p:spPr>
        <p:txBody>
          <a:bodyPr wrap="square">
            <a:spAutoFit/>
          </a:bodyPr>
          <a:lstStyle/>
          <a:p>
            <a:pPr algn="l"/>
            <a:r>
              <a:rPr sz="1200" b="1" i="0">
                <a:solidFill>
                  <a:srgbClr val="27AE60"/>
                </a:solidFill>
              </a:rPr>
              <a:t>✅ QA Score: 6.8 / 10    ✅ Safety: PASSED    📊 Pred. ER: 5.7%    🏷 Hashtags: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Sample Output: Housing.com News  (SEO Article, 800 words, CMS-ready)</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8</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457200" y="1463040"/>
            <a:ext cx="7955279" cy="4937760"/>
          </a:xfrm>
          <a:prstGeom prst="rect">
            <a:avLst/>
          </a:prstGeom>
          <a:solidFill>
            <a:srgbClr val="FAFAFF"/>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1828800" cy="320040"/>
          </a:xfrm>
          <a:prstGeom prst="rect">
            <a:avLst/>
          </a:prstGeom>
          <a:noFill/>
        </p:spPr>
        <p:txBody>
          <a:bodyPr wrap="square">
            <a:spAutoFit/>
          </a:bodyPr>
          <a:lstStyle/>
          <a:p>
            <a:pPr algn="l"/>
            <a:r>
              <a:rPr sz="1100" b="1" i="0">
                <a:solidFill>
                  <a:srgbClr val="555555"/>
                </a:solidFill>
              </a:rPr>
              <a:t>SEO Title:</a:t>
            </a:r>
          </a:p>
        </p:txBody>
      </p:sp>
      <p:sp>
        <p:nvSpPr>
          <p:cNvPr id="8" name="TextBox 7"/>
          <p:cNvSpPr txBox="1"/>
          <p:nvPr/>
        </p:nvSpPr>
        <p:spPr>
          <a:xfrm>
            <a:off x="2468880" y="1600200"/>
            <a:ext cx="5760720" cy="320040"/>
          </a:xfrm>
          <a:prstGeom prst="rect">
            <a:avLst/>
          </a:prstGeom>
          <a:noFill/>
        </p:spPr>
        <p:txBody>
          <a:bodyPr wrap="square">
            <a:spAutoFit/>
          </a:bodyPr>
          <a:lstStyle/>
          <a:p>
            <a:pPr algn="l"/>
            <a:r>
              <a:rPr sz="1300" b="1" i="0">
                <a:solidFill>
                  <a:srgbClr val="6B2D8B"/>
                </a:solidFill>
              </a:rPr>
              <a:t>8,212 Projects Got RERA Notices: How to Check If Your Home Is at Risk</a:t>
            </a:r>
          </a:p>
        </p:txBody>
      </p:sp>
      <p:sp>
        <p:nvSpPr>
          <p:cNvPr id="9" name="TextBox 8"/>
          <p:cNvSpPr txBox="1"/>
          <p:nvPr/>
        </p:nvSpPr>
        <p:spPr>
          <a:xfrm>
            <a:off x="640080" y="1965960"/>
            <a:ext cx="7589520" cy="320040"/>
          </a:xfrm>
          <a:prstGeom prst="rect">
            <a:avLst/>
          </a:prstGeom>
          <a:noFill/>
        </p:spPr>
        <p:txBody>
          <a:bodyPr wrap="square">
            <a:spAutoFit/>
          </a:bodyPr>
          <a:lstStyle/>
          <a:p>
            <a:pPr algn="l"/>
            <a:r>
              <a:rPr sz="1100" b="0" i="1">
                <a:solidFill>
                  <a:srgbClr val="555555"/>
                </a:solidFill>
              </a:rPr>
              <a:t>Primary keyword: how to check RERA registration  ·  Reading time: 4 min</a:t>
            </a:r>
          </a:p>
        </p:txBody>
      </p:sp>
      <p:sp>
        <p:nvSpPr>
          <p:cNvPr id="10" name="TextBox 9"/>
          <p:cNvSpPr txBox="1"/>
          <p:nvPr/>
        </p:nvSpPr>
        <p:spPr>
          <a:xfrm>
            <a:off x="640080" y="2331720"/>
            <a:ext cx="7589520" cy="3291840"/>
          </a:xfrm>
          <a:prstGeom prst="rect">
            <a:avLst/>
          </a:prstGeom>
          <a:noFill/>
        </p:spPr>
        <p:txBody>
          <a:bodyPr wrap="square">
            <a:spAutoFit/>
          </a:bodyPr>
          <a:lstStyle/>
          <a:p>
            <a:pPr algn="l"/>
            <a:r>
              <a:rPr sz="1100" b="0" i="0">
                <a:solidFill>
                  <a:srgbClr val="1A1A2E"/>
                </a:solidFill>
              </a:rPr>
              <a:t>MahaRERA just sent show-cause notices to 8,212 housing projects. Telangana RERA ordered an 11% interest refund to defrauded buyers. Haryana threatened a ₹52 crore penalty on a developer selling unregistered floors. If you are buying a home in 2026, this is the only article you need to read first...
## What Just Happened: Three RERA Crackdowns in 30 Days
Maharashtra's RERA has issued show-cause notices to 8,212 housing projects for failing to file mandatory Quarterly Progress Reports (QPRs). The breakdown: 4,644 in Mumbai Metropolitan Region, 1,957 in Pune...
## The 60-Second RERA Check Every Buyer Must Do
✅ Step 1: Ask for the RERA Registration Number
✅ Step 2: Verify on Your State's RERA Portal
✅ Step 3: Check QPR Status...</a:t>
            </a:r>
          </a:p>
        </p:txBody>
      </p:sp>
      <p:sp>
        <p:nvSpPr>
          <p:cNvPr id="11" name="TextBox 10"/>
          <p:cNvSpPr txBox="1"/>
          <p:nvPr/>
        </p:nvSpPr>
        <p:spPr>
          <a:xfrm>
            <a:off x="640080" y="5715000"/>
            <a:ext cx="7589520" cy="320040"/>
          </a:xfrm>
          <a:prstGeom prst="rect">
            <a:avLst/>
          </a:prstGeom>
          <a:noFill/>
        </p:spPr>
        <p:txBody>
          <a:bodyPr wrap="square">
            <a:spAutoFit/>
          </a:bodyPr>
          <a:lstStyle/>
          <a:p>
            <a:pPr algn="l"/>
            <a:r>
              <a:rPr sz="1100" b="0" i="1">
                <a:solidFill>
                  <a:srgbClr val="6B2D8B"/>
                </a:solidFill>
              </a:rPr>
              <a:t>Internal links: 3 Housing.com SRP pages embedded contextually</a:t>
            </a:r>
          </a:p>
        </p:txBody>
      </p:sp>
      <p:sp>
        <p:nvSpPr>
          <p:cNvPr id="12" name="Rectangle 11"/>
          <p:cNvSpPr/>
          <p:nvPr/>
        </p:nvSpPr>
        <p:spPr>
          <a:xfrm>
            <a:off x="8686800" y="1463040"/>
            <a:ext cx="3200400" cy="4937760"/>
          </a:xfrm>
          <a:prstGeom prst="rect">
            <a:avLst/>
          </a:prstGeom>
          <a:solidFill>
            <a:srgbClr val="3A1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600200"/>
            <a:ext cx="1280160" cy="365760"/>
          </a:xfrm>
          <a:prstGeom prst="rect">
            <a:avLst/>
          </a:prstGeom>
          <a:noFill/>
        </p:spPr>
        <p:txBody>
          <a:bodyPr wrap="square">
            <a:spAutoFit/>
          </a:bodyPr>
          <a:lstStyle/>
          <a:p>
            <a:pPr algn="l"/>
            <a:r>
              <a:rPr sz="1000" b="1" i="0">
                <a:solidFill>
                  <a:srgbClr val="E8D5F5"/>
                </a:solidFill>
              </a:rPr>
              <a:t>Format</a:t>
            </a:r>
          </a:p>
        </p:txBody>
      </p:sp>
      <p:sp>
        <p:nvSpPr>
          <p:cNvPr id="14" name="TextBox 13"/>
          <p:cNvSpPr txBox="1"/>
          <p:nvPr/>
        </p:nvSpPr>
        <p:spPr>
          <a:xfrm>
            <a:off x="10058400" y="1600200"/>
            <a:ext cx="1737360" cy="365760"/>
          </a:xfrm>
          <a:prstGeom prst="rect">
            <a:avLst/>
          </a:prstGeom>
          <a:noFill/>
        </p:spPr>
        <p:txBody>
          <a:bodyPr wrap="square">
            <a:spAutoFit/>
          </a:bodyPr>
          <a:lstStyle/>
          <a:p>
            <a:pPr algn="l"/>
            <a:r>
              <a:rPr sz="1000" b="0" i="0">
                <a:solidFill>
                  <a:srgbClr val="FFFFFF"/>
                </a:solidFill>
              </a:rPr>
              <a:t>CMS-ready JSON + Markdown</a:t>
            </a:r>
          </a:p>
        </p:txBody>
      </p:sp>
      <p:sp>
        <p:nvSpPr>
          <p:cNvPr id="15" name="TextBox 14"/>
          <p:cNvSpPr txBox="1"/>
          <p:nvPr/>
        </p:nvSpPr>
        <p:spPr>
          <a:xfrm>
            <a:off x="8778240" y="2029967"/>
            <a:ext cx="1280160" cy="365760"/>
          </a:xfrm>
          <a:prstGeom prst="rect">
            <a:avLst/>
          </a:prstGeom>
          <a:noFill/>
        </p:spPr>
        <p:txBody>
          <a:bodyPr wrap="square">
            <a:spAutoFit/>
          </a:bodyPr>
          <a:lstStyle/>
          <a:p>
            <a:pPr algn="l"/>
            <a:r>
              <a:rPr sz="1000" b="1" i="0">
                <a:solidFill>
                  <a:srgbClr val="E8D5F5"/>
                </a:solidFill>
              </a:rPr>
              <a:t>SEO Title</a:t>
            </a:r>
          </a:p>
        </p:txBody>
      </p:sp>
      <p:sp>
        <p:nvSpPr>
          <p:cNvPr id="16" name="TextBox 15"/>
          <p:cNvSpPr txBox="1"/>
          <p:nvPr/>
        </p:nvSpPr>
        <p:spPr>
          <a:xfrm>
            <a:off x="10058400" y="2029967"/>
            <a:ext cx="1737360" cy="365760"/>
          </a:xfrm>
          <a:prstGeom prst="rect">
            <a:avLst/>
          </a:prstGeom>
          <a:noFill/>
        </p:spPr>
        <p:txBody>
          <a:bodyPr wrap="square">
            <a:spAutoFit/>
          </a:bodyPr>
          <a:lstStyle/>
          <a:p>
            <a:pPr algn="l"/>
            <a:r>
              <a:rPr sz="1000" b="0" i="0">
                <a:solidFill>
                  <a:srgbClr val="FFFFFF"/>
                </a:solidFill>
              </a:rPr>
              <a:t>≤ 70 chars ✓</a:t>
            </a:r>
          </a:p>
        </p:txBody>
      </p:sp>
      <p:sp>
        <p:nvSpPr>
          <p:cNvPr id="17" name="TextBox 16"/>
          <p:cNvSpPr txBox="1"/>
          <p:nvPr/>
        </p:nvSpPr>
        <p:spPr>
          <a:xfrm>
            <a:off x="8778240" y="2459736"/>
            <a:ext cx="1280160" cy="365760"/>
          </a:xfrm>
          <a:prstGeom prst="rect">
            <a:avLst/>
          </a:prstGeom>
          <a:noFill/>
        </p:spPr>
        <p:txBody>
          <a:bodyPr wrap="square">
            <a:spAutoFit/>
          </a:bodyPr>
          <a:lstStyle/>
          <a:p>
            <a:pPr algn="l"/>
            <a:r>
              <a:rPr sz="1000" b="1" i="0">
                <a:solidFill>
                  <a:srgbClr val="E8D5F5"/>
                </a:solidFill>
              </a:rPr>
              <a:t>Meta Desc</a:t>
            </a:r>
          </a:p>
        </p:txBody>
      </p:sp>
      <p:sp>
        <p:nvSpPr>
          <p:cNvPr id="18" name="TextBox 17"/>
          <p:cNvSpPr txBox="1"/>
          <p:nvPr/>
        </p:nvSpPr>
        <p:spPr>
          <a:xfrm>
            <a:off x="10058400" y="2459736"/>
            <a:ext cx="1737360" cy="365760"/>
          </a:xfrm>
          <a:prstGeom prst="rect">
            <a:avLst/>
          </a:prstGeom>
          <a:noFill/>
        </p:spPr>
        <p:txBody>
          <a:bodyPr wrap="square">
            <a:spAutoFit/>
          </a:bodyPr>
          <a:lstStyle/>
          <a:p>
            <a:pPr algn="l"/>
            <a:r>
              <a:rPr sz="1000" b="0" i="0">
                <a:solidFill>
                  <a:srgbClr val="FFFFFF"/>
                </a:solidFill>
              </a:rPr>
              <a:t>≤ 160 chars ✓</a:t>
            </a:r>
          </a:p>
        </p:txBody>
      </p:sp>
      <p:sp>
        <p:nvSpPr>
          <p:cNvPr id="19" name="TextBox 18"/>
          <p:cNvSpPr txBox="1"/>
          <p:nvPr/>
        </p:nvSpPr>
        <p:spPr>
          <a:xfrm>
            <a:off x="8778240" y="2889504"/>
            <a:ext cx="1280160" cy="365760"/>
          </a:xfrm>
          <a:prstGeom prst="rect">
            <a:avLst/>
          </a:prstGeom>
          <a:noFill/>
        </p:spPr>
        <p:txBody>
          <a:bodyPr wrap="square">
            <a:spAutoFit/>
          </a:bodyPr>
          <a:lstStyle/>
          <a:p>
            <a:pPr algn="l"/>
            <a:r>
              <a:rPr sz="1000" b="1" i="0">
                <a:solidFill>
                  <a:srgbClr val="E8D5F5"/>
                </a:solidFill>
              </a:rPr>
              <a:t>H2 Structure</a:t>
            </a:r>
          </a:p>
        </p:txBody>
      </p:sp>
      <p:sp>
        <p:nvSpPr>
          <p:cNvPr id="20" name="TextBox 19"/>
          <p:cNvSpPr txBox="1"/>
          <p:nvPr/>
        </p:nvSpPr>
        <p:spPr>
          <a:xfrm>
            <a:off x="10058400" y="2889504"/>
            <a:ext cx="1737360" cy="365760"/>
          </a:xfrm>
          <a:prstGeom prst="rect">
            <a:avLst/>
          </a:prstGeom>
          <a:noFill/>
        </p:spPr>
        <p:txBody>
          <a:bodyPr wrap="square">
            <a:spAutoFit/>
          </a:bodyPr>
          <a:lstStyle/>
          <a:p>
            <a:pPr algn="l"/>
            <a:r>
              <a:rPr sz="1000" b="0" i="0">
                <a:solidFill>
                  <a:srgbClr val="FFFFFF"/>
                </a:solidFill>
              </a:rPr>
              <a:t>4 sections ✓</a:t>
            </a:r>
          </a:p>
        </p:txBody>
      </p:sp>
      <p:sp>
        <p:nvSpPr>
          <p:cNvPr id="21" name="TextBox 20"/>
          <p:cNvSpPr txBox="1"/>
          <p:nvPr/>
        </p:nvSpPr>
        <p:spPr>
          <a:xfrm>
            <a:off x="8778240" y="3319272"/>
            <a:ext cx="1280160" cy="365760"/>
          </a:xfrm>
          <a:prstGeom prst="rect">
            <a:avLst/>
          </a:prstGeom>
          <a:noFill/>
        </p:spPr>
        <p:txBody>
          <a:bodyPr wrap="square">
            <a:spAutoFit/>
          </a:bodyPr>
          <a:lstStyle/>
          <a:p>
            <a:pPr algn="l"/>
            <a:r>
              <a:rPr sz="1000" b="1" i="0">
                <a:solidFill>
                  <a:srgbClr val="E8D5F5"/>
                </a:solidFill>
              </a:rPr>
              <a:t>Pull Quote</a:t>
            </a:r>
          </a:p>
        </p:txBody>
      </p:sp>
      <p:sp>
        <p:nvSpPr>
          <p:cNvPr id="22" name="TextBox 21"/>
          <p:cNvSpPr txBox="1"/>
          <p:nvPr/>
        </p:nvSpPr>
        <p:spPr>
          <a:xfrm>
            <a:off x="10058400" y="3319272"/>
            <a:ext cx="1737360" cy="365760"/>
          </a:xfrm>
          <a:prstGeom prst="rect">
            <a:avLst/>
          </a:prstGeom>
          <a:noFill/>
        </p:spPr>
        <p:txBody>
          <a:bodyPr wrap="square">
            <a:spAutoFit/>
          </a:bodyPr>
          <a:lstStyle/>
          <a:p>
            <a:pPr algn="l"/>
            <a:r>
              <a:rPr sz="1000" b="0" i="0">
                <a:solidFill>
                  <a:srgbClr val="FFFFFF"/>
                </a:solidFill>
              </a:rPr>
              <a:t>Independently shareable ✓</a:t>
            </a:r>
          </a:p>
        </p:txBody>
      </p:sp>
      <p:sp>
        <p:nvSpPr>
          <p:cNvPr id="23" name="TextBox 22"/>
          <p:cNvSpPr txBox="1"/>
          <p:nvPr/>
        </p:nvSpPr>
        <p:spPr>
          <a:xfrm>
            <a:off x="8778240" y="3749039"/>
            <a:ext cx="1280160" cy="365760"/>
          </a:xfrm>
          <a:prstGeom prst="rect">
            <a:avLst/>
          </a:prstGeom>
          <a:noFill/>
        </p:spPr>
        <p:txBody>
          <a:bodyPr wrap="square">
            <a:spAutoFit/>
          </a:bodyPr>
          <a:lstStyle/>
          <a:p>
            <a:pPr algn="l"/>
            <a:r>
              <a:rPr sz="1000" b="1" i="0">
                <a:solidFill>
                  <a:srgbClr val="E8D5F5"/>
                </a:solidFill>
              </a:rPr>
              <a:t>Schema</a:t>
            </a:r>
          </a:p>
        </p:txBody>
      </p:sp>
      <p:sp>
        <p:nvSpPr>
          <p:cNvPr id="24" name="TextBox 23"/>
          <p:cNvSpPr txBox="1"/>
          <p:nvPr/>
        </p:nvSpPr>
        <p:spPr>
          <a:xfrm>
            <a:off x="10058400" y="3749039"/>
            <a:ext cx="1737360" cy="365760"/>
          </a:xfrm>
          <a:prstGeom prst="rect">
            <a:avLst/>
          </a:prstGeom>
          <a:noFill/>
        </p:spPr>
        <p:txBody>
          <a:bodyPr wrap="square">
            <a:spAutoFit/>
          </a:bodyPr>
          <a:lstStyle/>
          <a:p>
            <a:pPr algn="l"/>
            <a:r>
              <a:rPr sz="1000" b="0" i="0">
                <a:solidFill>
                  <a:srgbClr val="FFFFFF"/>
                </a:solidFill>
              </a:rPr>
              <a:t>NewsArticle JSON-LD</a:t>
            </a:r>
          </a:p>
        </p:txBody>
      </p:sp>
      <p:sp>
        <p:nvSpPr>
          <p:cNvPr id="25" name="TextBox 24"/>
          <p:cNvSpPr txBox="1"/>
          <p:nvPr/>
        </p:nvSpPr>
        <p:spPr>
          <a:xfrm>
            <a:off x="8778240" y="4178808"/>
            <a:ext cx="1280160" cy="365760"/>
          </a:xfrm>
          <a:prstGeom prst="rect">
            <a:avLst/>
          </a:prstGeom>
          <a:noFill/>
        </p:spPr>
        <p:txBody>
          <a:bodyPr wrap="square">
            <a:spAutoFit/>
          </a:bodyPr>
          <a:lstStyle/>
          <a:p>
            <a:pPr algn="l"/>
            <a:r>
              <a:rPr sz="1000" b="1" i="0">
                <a:solidFill>
                  <a:srgbClr val="E8D5F5"/>
                </a:solidFill>
              </a:rPr>
              <a:t>Internal Links</a:t>
            </a:r>
          </a:p>
        </p:txBody>
      </p:sp>
      <p:sp>
        <p:nvSpPr>
          <p:cNvPr id="26" name="TextBox 25"/>
          <p:cNvSpPr txBox="1"/>
          <p:nvPr/>
        </p:nvSpPr>
        <p:spPr>
          <a:xfrm>
            <a:off x="10058400" y="4178808"/>
            <a:ext cx="1737360" cy="365760"/>
          </a:xfrm>
          <a:prstGeom prst="rect">
            <a:avLst/>
          </a:prstGeom>
          <a:noFill/>
        </p:spPr>
        <p:txBody>
          <a:bodyPr wrap="square">
            <a:spAutoFit/>
          </a:bodyPr>
          <a:lstStyle/>
          <a:p>
            <a:pPr algn="l"/>
            <a:r>
              <a:rPr sz="1000" b="0" i="0">
                <a:solidFill>
                  <a:srgbClr val="FFFFFF"/>
                </a:solidFill>
              </a:rPr>
              <a:t>3 embedded contextually</a:t>
            </a:r>
          </a:p>
        </p:txBody>
      </p:sp>
      <p:sp>
        <p:nvSpPr>
          <p:cNvPr id="27" name="TextBox 26"/>
          <p:cNvSpPr txBox="1"/>
          <p:nvPr/>
        </p:nvSpPr>
        <p:spPr>
          <a:xfrm>
            <a:off x="8778240" y="4608576"/>
            <a:ext cx="1280160" cy="365760"/>
          </a:xfrm>
          <a:prstGeom prst="rect">
            <a:avLst/>
          </a:prstGeom>
          <a:noFill/>
        </p:spPr>
        <p:txBody>
          <a:bodyPr wrap="square">
            <a:spAutoFit/>
          </a:bodyPr>
          <a:lstStyle/>
          <a:p>
            <a:pPr algn="l"/>
            <a:r>
              <a:rPr sz="1000" b="1" i="0">
                <a:solidFill>
                  <a:srgbClr val="E8D5F5"/>
                </a:solidFill>
              </a:rPr>
              <a:t>QA Score</a:t>
            </a:r>
          </a:p>
        </p:txBody>
      </p:sp>
      <p:sp>
        <p:nvSpPr>
          <p:cNvPr id="28" name="TextBox 27"/>
          <p:cNvSpPr txBox="1"/>
          <p:nvPr/>
        </p:nvSpPr>
        <p:spPr>
          <a:xfrm>
            <a:off x="10058400" y="4608576"/>
            <a:ext cx="1737360" cy="365760"/>
          </a:xfrm>
          <a:prstGeom prst="rect">
            <a:avLst/>
          </a:prstGeom>
          <a:noFill/>
        </p:spPr>
        <p:txBody>
          <a:bodyPr wrap="square">
            <a:spAutoFit/>
          </a:bodyPr>
          <a:lstStyle/>
          <a:p>
            <a:pPr algn="l"/>
            <a:r>
              <a:rPr sz="1000" b="0" i="0">
                <a:solidFill>
                  <a:srgbClr val="FFFFFF"/>
                </a:solidFill>
              </a:rPr>
              <a:t>8.0 / 10</a:t>
            </a:r>
          </a:p>
        </p:txBody>
      </p:sp>
      <p:sp>
        <p:nvSpPr>
          <p:cNvPr id="29" name="TextBox 28"/>
          <p:cNvSpPr txBox="1"/>
          <p:nvPr/>
        </p:nvSpPr>
        <p:spPr>
          <a:xfrm>
            <a:off x="8778240" y="5038344"/>
            <a:ext cx="1280160" cy="365760"/>
          </a:xfrm>
          <a:prstGeom prst="rect">
            <a:avLst/>
          </a:prstGeom>
          <a:noFill/>
        </p:spPr>
        <p:txBody>
          <a:bodyPr wrap="square">
            <a:spAutoFit/>
          </a:bodyPr>
          <a:lstStyle/>
          <a:p>
            <a:pPr algn="l"/>
            <a:r>
              <a:rPr sz="1000" b="1" i="0">
                <a:solidFill>
                  <a:srgbClr val="E8D5F5"/>
                </a:solidFill>
              </a:rPr>
              <a:t>Safety</a:t>
            </a:r>
          </a:p>
        </p:txBody>
      </p:sp>
      <p:sp>
        <p:nvSpPr>
          <p:cNvPr id="30" name="TextBox 29"/>
          <p:cNvSpPr txBox="1"/>
          <p:nvPr/>
        </p:nvSpPr>
        <p:spPr>
          <a:xfrm>
            <a:off x="10058400" y="5038344"/>
            <a:ext cx="1737360" cy="365760"/>
          </a:xfrm>
          <a:prstGeom prst="rect">
            <a:avLst/>
          </a:prstGeom>
          <a:noFill/>
        </p:spPr>
        <p:txBody>
          <a:bodyPr wrap="square">
            <a:spAutoFit/>
          </a:bodyPr>
          <a:lstStyle/>
          <a:p>
            <a:pPr algn="l"/>
            <a:r>
              <a:rPr sz="1000" b="0" i="0">
                <a:solidFill>
                  <a:srgbClr val="FFFFFF"/>
                </a:solidFill>
              </a:rPr>
              <a:t>PASSED ✓</a:t>
            </a:r>
          </a:p>
        </p:txBody>
      </p:sp>
      <p:sp>
        <p:nvSpPr>
          <p:cNvPr id="31" name="TextBox 30"/>
          <p:cNvSpPr txBox="1"/>
          <p:nvPr/>
        </p:nvSpPr>
        <p:spPr>
          <a:xfrm>
            <a:off x="8778240" y="5468112"/>
            <a:ext cx="1280160" cy="365760"/>
          </a:xfrm>
          <a:prstGeom prst="rect">
            <a:avLst/>
          </a:prstGeom>
          <a:noFill/>
        </p:spPr>
        <p:txBody>
          <a:bodyPr wrap="square">
            <a:spAutoFit/>
          </a:bodyPr>
          <a:lstStyle/>
          <a:p>
            <a:pPr algn="l"/>
            <a:r>
              <a:rPr sz="1000" b="1" i="0">
                <a:solidFill>
                  <a:srgbClr val="E8D5F5"/>
                </a:solidFill>
              </a:rPr>
              <a:t>Pred. ER</a:t>
            </a:r>
          </a:p>
        </p:txBody>
      </p:sp>
      <p:sp>
        <p:nvSpPr>
          <p:cNvPr id="32" name="TextBox 31"/>
          <p:cNvSpPr txBox="1"/>
          <p:nvPr/>
        </p:nvSpPr>
        <p:spPr>
          <a:xfrm>
            <a:off x="10058400" y="5468112"/>
            <a:ext cx="1737360" cy="365760"/>
          </a:xfrm>
          <a:prstGeom prst="rect">
            <a:avLst/>
          </a:prstGeom>
          <a:noFill/>
        </p:spPr>
        <p:txBody>
          <a:bodyPr wrap="square">
            <a:spAutoFit/>
          </a:bodyPr>
          <a:lstStyle/>
          <a:p>
            <a:pPr algn="l"/>
            <a:r>
              <a:rPr sz="1000" b="0" i="0">
                <a:solidFill>
                  <a:srgbClr val="FFFFFF"/>
                </a:solidFill>
              </a:rPr>
              <a:t>2.1% (CTR-focused)</a:t>
            </a:r>
          </a:p>
        </p:txBody>
      </p:sp>
      <p:sp>
        <p:nvSpPr>
          <p:cNvPr id="33" name="TextBox 32"/>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The Creative Strategy: The Zomato Method</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9</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TextBox 5"/>
          <p:cNvSpPr txBox="1"/>
          <p:nvPr/>
        </p:nvSpPr>
        <p:spPr>
          <a:xfrm>
            <a:off x="457200" y="1554480"/>
            <a:ext cx="11247120" cy="731520"/>
          </a:xfrm>
          <a:prstGeom prst="rect">
            <a:avLst/>
          </a:prstGeom>
          <a:noFill/>
        </p:spPr>
        <p:txBody>
          <a:bodyPr wrap="square">
            <a:spAutoFit/>
          </a:bodyPr>
          <a:lstStyle/>
          <a:p>
            <a:pPr algn="l"/>
            <a:r>
              <a:rPr sz="1600" b="0" i="1">
                <a:solidFill>
                  <a:srgbClr val="1A1A2E"/>
                </a:solidFill>
              </a:rPr>
              <a:t>Social content fails when housing is the HERO and the trend is the footnote.
It works when the TREND is the hero and housing is the punchline.</a:t>
            </a:r>
          </a:p>
        </p:txBody>
      </p:sp>
      <p:sp>
        <p:nvSpPr>
          <p:cNvPr id="7" name="Rectangle 6"/>
          <p:cNvSpPr/>
          <p:nvPr/>
        </p:nvSpPr>
        <p:spPr>
          <a:xfrm>
            <a:off x="365760" y="2377440"/>
            <a:ext cx="3657600" cy="347472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514600"/>
            <a:ext cx="3383280" cy="365760"/>
          </a:xfrm>
          <a:prstGeom prst="rect">
            <a:avLst/>
          </a:prstGeom>
          <a:noFill/>
        </p:spPr>
        <p:txBody>
          <a:bodyPr wrap="square">
            <a:spAutoFit/>
          </a:bodyPr>
          <a:lstStyle/>
          <a:p>
            <a:pPr algn="l"/>
            <a:r>
              <a:rPr sz="1300" b="1" i="0">
                <a:solidFill>
                  <a:srgbClr val="6B2D8B"/>
                </a:solidFill>
              </a:rPr>
              <a:t>Trend: IPL final</a:t>
            </a:r>
          </a:p>
        </p:txBody>
      </p:sp>
      <p:sp>
        <p:nvSpPr>
          <p:cNvPr id="9" name="TextBox 8"/>
          <p:cNvSpPr txBox="1"/>
          <p:nvPr/>
        </p:nvSpPr>
        <p:spPr>
          <a:xfrm>
            <a:off x="502920" y="2926080"/>
            <a:ext cx="3383280" cy="2743200"/>
          </a:xfrm>
          <a:prstGeom prst="rect">
            <a:avLst/>
          </a:prstGeom>
          <a:noFill/>
        </p:spPr>
        <p:txBody>
          <a:bodyPr wrap="square">
            <a:spAutoFit/>
          </a:bodyPr>
          <a:lstStyle/>
          <a:p>
            <a:pPr algn="l"/>
            <a:r>
              <a:rPr sz="1100" b="0" i="0">
                <a:solidFill>
                  <a:srgbClr val="1A1A2E"/>
                </a:solidFill>
              </a:rPr>
              <a:t>❌  Weak: 'Celebrating RCB's win! Buy a home in Bangalore! 🏠'
✅  Strong: 'RCB waited 18 years to win the IPL.
You've been waiting to buy a ghar for 3.
Maybe 2025 is both our years. 🏆'
#RCBvKKR #GharKhojna</a:t>
            </a:r>
          </a:p>
        </p:txBody>
      </p:sp>
      <p:sp>
        <p:nvSpPr>
          <p:cNvPr id="10" name="Rectangle 9"/>
          <p:cNvSpPr/>
          <p:nvPr/>
        </p:nvSpPr>
        <p:spPr>
          <a:xfrm>
            <a:off x="4297680" y="2377440"/>
            <a:ext cx="3657600" cy="347472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514600"/>
            <a:ext cx="3383280" cy="365760"/>
          </a:xfrm>
          <a:prstGeom prst="rect">
            <a:avLst/>
          </a:prstGeom>
          <a:noFill/>
        </p:spPr>
        <p:txBody>
          <a:bodyPr wrap="square">
            <a:spAutoFit/>
          </a:bodyPr>
          <a:lstStyle/>
          <a:p>
            <a:pPr algn="l"/>
            <a:r>
              <a:rPr sz="1300" b="1" i="0">
                <a:solidFill>
                  <a:srgbClr val="6B2D8B"/>
                </a:solidFill>
              </a:rPr>
              <a:t>Trend: Budget ₹12L tax-free</a:t>
            </a:r>
          </a:p>
        </p:txBody>
      </p:sp>
      <p:sp>
        <p:nvSpPr>
          <p:cNvPr id="12" name="TextBox 11"/>
          <p:cNvSpPr txBox="1"/>
          <p:nvPr/>
        </p:nvSpPr>
        <p:spPr>
          <a:xfrm>
            <a:off x="4434840" y="2926080"/>
            <a:ext cx="3383280" cy="2743200"/>
          </a:xfrm>
          <a:prstGeom prst="rect">
            <a:avLst/>
          </a:prstGeom>
          <a:noFill/>
        </p:spPr>
        <p:txBody>
          <a:bodyPr wrap="square">
            <a:spAutoFit/>
          </a:bodyPr>
          <a:lstStyle/>
          <a:p>
            <a:pPr algn="l"/>
            <a:r>
              <a:rPr sz="1100" b="0" i="0">
                <a:solidFill>
                  <a:srgbClr val="1A1A2E"/>
                </a:solidFill>
              </a:rPr>
              <a:t>❌  Weak: 'Budget 2025 is great for home buyers!'
✅  Strong: 'Finance minister just made ₹12L tax-free.
Your EMI just got more affordable than your rent.
Check how much home you can afford now 👇'
#Budget2025 #HomeLoan</a:t>
            </a:r>
          </a:p>
        </p:txBody>
      </p:sp>
      <p:sp>
        <p:nvSpPr>
          <p:cNvPr id="13" name="Rectangle 12"/>
          <p:cNvSpPr/>
          <p:nvPr/>
        </p:nvSpPr>
        <p:spPr>
          <a:xfrm>
            <a:off x="8229600" y="2377440"/>
            <a:ext cx="3657600" cy="3474720"/>
          </a:xfrm>
          <a:prstGeom prst="rect">
            <a:avLst/>
          </a:prstGeom>
          <a:solidFill>
            <a:srgbClr val="FFF0F0"/>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514600"/>
            <a:ext cx="3383280" cy="365760"/>
          </a:xfrm>
          <a:prstGeom prst="rect">
            <a:avLst/>
          </a:prstGeom>
          <a:noFill/>
        </p:spPr>
        <p:txBody>
          <a:bodyPr wrap="square">
            <a:spAutoFit/>
          </a:bodyPr>
          <a:lstStyle/>
          <a:p>
            <a:pPr algn="l"/>
            <a:r>
              <a:rPr sz="1300" b="1" i="0">
                <a:solidFill>
                  <a:srgbClr val="E74C3C"/>
                </a:solidFill>
              </a:rPr>
              <a:t>Trend: Coldplay concert</a:t>
            </a:r>
          </a:p>
        </p:txBody>
      </p:sp>
      <p:sp>
        <p:nvSpPr>
          <p:cNvPr id="15" name="TextBox 14"/>
          <p:cNvSpPr txBox="1"/>
          <p:nvPr/>
        </p:nvSpPr>
        <p:spPr>
          <a:xfrm>
            <a:off x="8366760" y="2926080"/>
            <a:ext cx="3383280" cy="2743200"/>
          </a:xfrm>
          <a:prstGeom prst="rect">
            <a:avLst/>
          </a:prstGeom>
          <a:noFill/>
        </p:spPr>
        <p:txBody>
          <a:bodyPr wrap="square">
            <a:spAutoFit/>
          </a:bodyPr>
          <a:lstStyle/>
          <a:p>
            <a:pPr algn="l"/>
            <a:r>
              <a:rPr sz="1100" b="0" i="0">
                <a:solidFill>
                  <a:srgbClr val="1A1A2E"/>
                </a:solidFill>
              </a:rPr>
              <a:t>❌  Wrong: 'Coldplay is coming! Buy a home near the venue!'
✅  OMIT: No genuine housing angle → planner drops it
(Planner quality gate working as designed)</a:t>
            </a:r>
          </a:p>
        </p:txBody>
      </p:sp>
      <p:sp>
        <p:nvSpPr>
          <p:cNvPr id="16" name="TextBox 15"/>
          <p:cNvSpPr txBox="1"/>
          <p:nvPr/>
        </p:nvSpPr>
        <p:spPr>
          <a:xfrm>
            <a:off x="457200" y="6126480"/>
            <a:ext cx="10972800" cy="365760"/>
          </a:xfrm>
          <a:prstGeom prst="rect">
            <a:avLst/>
          </a:prstGeom>
          <a:noFill/>
        </p:spPr>
        <p:txBody>
          <a:bodyPr wrap="square">
            <a:spAutoFit/>
          </a:bodyPr>
          <a:lstStyle/>
          <a:p>
            <a:pPr algn="ctr"/>
            <a:r>
              <a:rPr sz="1300" b="1" i="0">
                <a:solidFill>
                  <a:srgbClr val="6B2D8B"/>
                </a:solidFill>
              </a:rPr>
              <a:t>Trend is HERO  ·  Housing is PUNCHLINE  ·  Hinglish + max 2 emojis  ·  First hashtag = trending tag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Quality Gate: 3-Pass AI Review on Every Post</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10</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457200" y="1600200"/>
            <a:ext cx="3566160" cy="4389120"/>
          </a:xfrm>
          <a:prstGeom prst="rect">
            <a:avLst/>
          </a:prstGeom>
          <a:solidFill>
            <a:srgbClr val="F5F5F5"/>
          </a:solidFill>
          <a:ln w="63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00200"/>
            <a:ext cx="356616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45920"/>
            <a:ext cx="3291840" cy="411480"/>
          </a:xfrm>
          <a:prstGeom prst="rect">
            <a:avLst/>
          </a:prstGeom>
          <a:noFill/>
        </p:spPr>
        <p:txBody>
          <a:bodyPr wrap="square">
            <a:spAutoFit/>
          </a:bodyPr>
          <a:lstStyle/>
          <a:p>
            <a:pPr algn="l"/>
            <a:r>
              <a:rPr sz="1500" b="1" i="0">
                <a:solidFill>
                  <a:srgbClr val="FFFFFF"/>
                </a:solidFill>
              </a:rPr>
              <a:t>Pass 1
Safety Gate</a:t>
            </a:r>
          </a:p>
        </p:txBody>
      </p:sp>
      <p:sp>
        <p:nvSpPr>
          <p:cNvPr id="9" name="Rectangle 8"/>
          <p:cNvSpPr/>
          <p:nvPr/>
        </p:nvSpPr>
        <p:spPr>
          <a:xfrm>
            <a:off x="548640" y="2194560"/>
            <a:ext cx="338328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3383280" cy="411480"/>
          </a:xfrm>
          <a:prstGeom prst="rect">
            <a:avLst/>
          </a:prstGeom>
          <a:noFill/>
        </p:spPr>
        <p:txBody>
          <a:bodyPr wrap="none">
            <a:spAutoFit/>
          </a:bodyPr>
          <a:lstStyle/>
          <a:p>
            <a:pPr algn="ctr"/>
            <a:r>
              <a:rPr sz="1000" b="0">
                <a:solidFill>
                  <a:srgbClr val="FFFFFF"/>
                </a:solidFill>
              </a:rPr>
              <a:t>Gemini Flash
~$0.001/post</a:t>
            </a:r>
          </a:p>
        </p:txBody>
      </p:sp>
      <p:sp>
        <p:nvSpPr>
          <p:cNvPr id="11" name="TextBox 10"/>
          <p:cNvSpPr txBox="1"/>
          <p:nvPr/>
        </p:nvSpPr>
        <p:spPr>
          <a:xfrm>
            <a:off x="548640" y="2697480"/>
            <a:ext cx="3383280" cy="3200400"/>
          </a:xfrm>
          <a:prstGeom prst="rect">
            <a:avLst/>
          </a:prstGeom>
          <a:noFill/>
        </p:spPr>
        <p:txBody>
          <a:bodyPr wrap="square">
            <a:spAutoFit/>
          </a:bodyPr>
          <a:lstStyle/>
          <a:p>
            <a:pPr algn="l"/>
            <a:r>
              <a:rPr sz="1100" b="0" i="0">
                <a:solidFill>
                  <a:srgbClr val="1A1A2E"/>
                </a:solidFill>
              </a:rPr>
              <a:t>Binary PASS/FAIL
Hard blocks:
• Political party names
• Communal / religious attacks
• Price guarantees with numbers
• Defamation / insider info
Always allowed:
• Govt schemes (PMAY, RERA)
• Women homebuyers
• Market data with attribution</a:t>
            </a:r>
          </a:p>
        </p:txBody>
      </p:sp>
      <p:sp>
        <p:nvSpPr>
          <p:cNvPr id="12" name="Rectangle 11"/>
          <p:cNvSpPr/>
          <p:nvPr/>
        </p:nvSpPr>
        <p:spPr>
          <a:xfrm>
            <a:off x="4343400" y="1600200"/>
            <a:ext cx="3566160" cy="4389120"/>
          </a:xfrm>
          <a:prstGeom prst="rect">
            <a:avLst/>
          </a:prstGeom>
          <a:solidFill>
            <a:srgbClr val="F5F5F5"/>
          </a:solidFill>
          <a:ln w="635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00200"/>
            <a:ext cx="35661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645920"/>
            <a:ext cx="3291840" cy="411480"/>
          </a:xfrm>
          <a:prstGeom prst="rect">
            <a:avLst/>
          </a:prstGeom>
          <a:noFill/>
        </p:spPr>
        <p:txBody>
          <a:bodyPr wrap="square">
            <a:spAutoFit/>
          </a:bodyPr>
          <a:lstStyle/>
          <a:p>
            <a:pPr algn="l"/>
            <a:r>
              <a:rPr sz="1500" b="1" i="0">
                <a:solidFill>
                  <a:srgbClr val="FFFFFF"/>
                </a:solidFill>
              </a:rPr>
              <a:t>Pass 2
Quality Score</a:t>
            </a:r>
          </a:p>
        </p:txBody>
      </p:sp>
      <p:sp>
        <p:nvSpPr>
          <p:cNvPr id="15" name="Rectangle 14"/>
          <p:cNvSpPr/>
          <p:nvPr/>
        </p:nvSpPr>
        <p:spPr>
          <a:xfrm>
            <a:off x="4434840" y="2194560"/>
            <a:ext cx="3383280" cy="4114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194560"/>
            <a:ext cx="3383280" cy="411480"/>
          </a:xfrm>
          <a:prstGeom prst="rect">
            <a:avLst/>
          </a:prstGeom>
          <a:noFill/>
        </p:spPr>
        <p:txBody>
          <a:bodyPr wrap="none">
            <a:spAutoFit/>
          </a:bodyPr>
          <a:lstStyle/>
          <a:p>
            <a:pPr algn="ctr"/>
            <a:r>
              <a:rPr sz="1000" b="0">
                <a:solidFill>
                  <a:srgbClr val="FFFFFF"/>
                </a:solidFill>
              </a:rPr>
              <a:t>Sonnet 4.6
~$0.012/post</a:t>
            </a:r>
          </a:p>
        </p:txBody>
      </p:sp>
      <p:sp>
        <p:nvSpPr>
          <p:cNvPr id="17" name="TextBox 16"/>
          <p:cNvSpPr txBox="1"/>
          <p:nvPr/>
        </p:nvSpPr>
        <p:spPr>
          <a:xfrm>
            <a:off x="4434840" y="2697480"/>
            <a:ext cx="3383280" cy="3200400"/>
          </a:xfrm>
          <a:prstGeom prst="rect">
            <a:avLst/>
          </a:prstGeom>
          <a:noFill/>
        </p:spPr>
        <p:txBody>
          <a:bodyPr wrap="square">
            <a:spAutoFit/>
          </a:bodyPr>
          <a:lstStyle/>
          <a:p>
            <a:pPr algn="l"/>
            <a:r>
              <a:rPr sz="1100" b="0" i="0">
                <a:solidFill>
                  <a:srgbClr val="1A1A2E"/>
                </a:solidFill>
              </a:rPr>
              <a:t>7-dimension scoring (0–10)
Twitter: Trend dominance (35%)
  + Shareability (30%)
  + Hinglish wit (25%)
  + CTA quality (10%)
Threshold &lt; 5.0 → REVISE
Up to 2 revision loops</a:t>
            </a:r>
          </a:p>
        </p:txBody>
      </p:sp>
      <p:sp>
        <p:nvSpPr>
          <p:cNvPr id="18" name="Rectangle 17"/>
          <p:cNvSpPr/>
          <p:nvPr/>
        </p:nvSpPr>
        <p:spPr>
          <a:xfrm>
            <a:off x="8229600" y="1600200"/>
            <a:ext cx="3566160" cy="4389120"/>
          </a:xfrm>
          <a:prstGeom prst="rect">
            <a:avLst/>
          </a:prstGeom>
          <a:solidFill>
            <a:srgbClr val="F5F5F5"/>
          </a:solidFill>
          <a:ln w="63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600200"/>
            <a:ext cx="356616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645920"/>
            <a:ext cx="3291840" cy="411480"/>
          </a:xfrm>
          <a:prstGeom prst="rect">
            <a:avLst/>
          </a:prstGeom>
          <a:noFill/>
        </p:spPr>
        <p:txBody>
          <a:bodyPr wrap="square">
            <a:spAutoFit/>
          </a:bodyPr>
          <a:lstStyle/>
          <a:p>
            <a:pPr algn="l"/>
            <a:r>
              <a:rPr sz="1500" b="1" i="0">
                <a:solidFill>
                  <a:srgbClr val="FFFFFF"/>
                </a:solidFill>
              </a:rPr>
              <a:t>Pass 3
Engagement Pred.</a:t>
            </a:r>
          </a:p>
        </p:txBody>
      </p:sp>
      <p:sp>
        <p:nvSpPr>
          <p:cNvPr id="21" name="Rectangle 20"/>
          <p:cNvSpPr/>
          <p:nvPr/>
        </p:nvSpPr>
        <p:spPr>
          <a:xfrm>
            <a:off x="8321040" y="2194560"/>
            <a:ext cx="3383280" cy="411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194560"/>
            <a:ext cx="3383280" cy="411480"/>
          </a:xfrm>
          <a:prstGeom prst="rect">
            <a:avLst/>
          </a:prstGeom>
          <a:noFill/>
        </p:spPr>
        <p:txBody>
          <a:bodyPr wrap="none">
            <a:spAutoFit/>
          </a:bodyPr>
          <a:lstStyle/>
          <a:p>
            <a:pPr algn="ctr"/>
            <a:r>
              <a:rPr sz="1000" b="0">
                <a:solidFill>
                  <a:srgbClr val="FFFFFF"/>
                </a:solidFill>
              </a:rPr>
              <a:t>Opus 4.7
~$0.015/post</a:t>
            </a:r>
          </a:p>
        </p:txBody>
      </p:sp>
      <p:sp>
        <p:nvSpPr>
          <p:cNvPr id="23" name="TextBox 22"/>
          <p:cNvSpPr txBox="1"/>
          <p:nvPr/>
        </p:nvSpPr>
        <p:spPr>
          <a:xfrm>
            <a:off x="8321040" y="2697480"/>
            <a:ext cx="3383280" cy="3200400"/>
          </a:xfrm>
          <a:prstGeom prst="rect">
            <a:avLst/>
          </a:prstGeom>
          <a:noFill/>
        </p:spPr>
        <p:txBody>
          <a:bodyPr wrap="square">
            <a:spAutoFit/>
          </a:bodyPr>
          <a:lstStyle/>
          <a:p>
            <a:pPr algn="l"/>
            <a:r>
              <a:rPr sz="1100" b="0" i="0">
                <a:solidFill>
                  <a:srgbClr val="1A1A2E"/>
                </a:solidFill>
              </a:rPr>
              <a:t>Behavioural prediction
Outputs:
• pred_impressions
• pred_engagement_rate
• pred_confidence
Historical Housing.com data
+ platform engagement physics
+ trend momentum signal</a:t>
            </a:r>
          </a:p>
        </p:txBody>
      </p:sp>
      <p:sp>
        <p:nvSpPr>
          <p:cNvPr id="24" name="TextBox 23"/>
          <p:cNvSpPr txBox="1"/>
          <p:nvPr/>
        </p:nvSpPr>
        <p:spPr>
          <a:xfrm>
            <a:off x="3977639" y="3291840"/>
            <a:ext cx="457200" cy="457200"/>
          </a:xfrm>
          <a:prstGeom prst="rect">
            <a:avLst/>
          </a:prstGeom>
          <a:noFill/>
        </p:spPr>
        <p:txBody>
          <a:bodyPr wrap="square">
            <a:spAutoFit/>
          </a:bodyPr>
          <a:lstStyle/>
          <a:p>
            <a:pPr algn="ctr"/>
            <a:r>
              <a:rPr sz="2800" b="1" i="0">
                <a:solidFill>
                  <a:srgbClr val="6B2D8B"/>
                </a:solidFill>
              </a:rPr>
              <a:t>→</a:t>
            </a:r>
          </a:p>
        </p:txBody>
      </p:sp>
      <p:sp>
        <p:nvSpPr>
          <p:cNvPr id="25" name="TextBox 24"/>
          <p:cNvSpPr txBox="1"/>
          <p:nvPr/>
        </p:nvSpPr>
        <p:spPr>
          <a:xfrm>
            <a:off x="7863840" y="3291840"/>
            <a:ext cx="457200" cy="457200"/>
          </a:xfrm>
          <a:prstGeom prst="rect">
            <a:avLst/>
          </a:prstGeom>
          <a:noFill/>
        </p:spPr>
        <p:txBody>
          <a:bodyPr wrap="square">
            <a:spAutoFit/>
          </a:bodyPr>
          <a:lstStyle/>
          <a:p>
            <a:pPr algn="ctr"/>
            <a:r>
              <a:rPr sz="2800" b="1" i="0">
                <a:solidFill>
                  <a:srgbClr val="6B2D8B"/>
                </a:solidFill>
              </a:rPr>
              <a:t>→</a:t>
            </a:r>
          </a:p>
        </p:txBody>
      </p:sp>
      <p:sp>
        <p:nvSpPr>
          <p:cNvPr id="26" name="TextBox 25"/>
          <p:cNvSpPr txBox="1"/>
          <p:nvPr/>
        </p:nvSpPr>
        <p:spPr>
          <a:xfrm>
            <a:off x="457200" y="6126480"/>
            <a:ext cx="11247120" cy="365760"/>
          </a:xfrm>
          <a:prstGeom prst="rect">
            <a:avLst/>
          </a:prstGeom>
          <a:noFill/>
        </p:spPr>
        <p:txBody>
          <a:bodyPr wrap="square">
            <a:spAutoFit/>
          </a:bodyPr>
          <a:lstStyle/>
          <a:p>
            <a:pPr algn="ctr"/>
            <a:r>
              <a:rPr sz="1200" b="0" i="1">
                <a:solidFill>
                  <a:srgbClr val="6B2D8B"/>
                </a:solidFill>
              </a:rPr>
              <a:t>Revision loop: REVISE decision → platform agent reruns with specific fix instructions → re-evaluated (max 2 attempts)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The Economics: 97% Cost Reduction vs Traditional Agency</a:t>
            </a:r>
          </a:p>
        </p:txBody>
      </p:sp>
      <p:pic>
        <p:nvPicPr>
          <p:cNvPr id="4" name="Picture 3" descr="image.png"/>
          <p:cNvPicPr>
            <a:picLocks noChangeAspect="1"/>
          </p:cNvPicPr>
          <p:nvPr/>
        </p:nvPicPr>
        <p:blipFill>
          <a:blip r:embed="rId2"/>
          <a:stretch>
            <a:fillRect/>
          </a:stretch>
        </p:blipFill>
        <p:spPr>
          <a:xfrm>
            <a:off x="274320" y="1280160"/>
            <a:ext cx="11612880" cy="5029200"/>
          </a:xfrm>
          <a:prstGeom prst="rect">
            <a:avLst/>
          </a:prstGeom>
        </p:spPr>
      </p:pic>
      <p:sp>
        <p:nvSpPr>
          <p:cNvPr id="5" name="TextBox 4"/>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11</a:t>
            </a:r>
          </a:p>
        </p:txBody>
      </p:sp>
      <p:sp>
        <p:nvSpPr>
          <p:cNvPr id="6" name="TextBox 5"/>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3A1055"/>
        </a:solidFill>
        <a:effectLst/>
      </p:bgPr>
    </p:bg>
    <p:spTree>
      <p:nvGrpSpPr>
        <p:cNvPr id="1" name=""/>
        <p:cNvGrpSpPr/>
        <p:nvPr/>
      </p:nvGrpSpPr>
      <p:grpSpPr/>
      <p:sp>
        <p:nvSpPr>
          <p:cNvPr id="2" name="TextBox 1"/>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12</a:t>
            </a:r>
          </a:p>
        </p:txBody>
      </p:sp>
      <p:sp>
        <p:nvSpPr>
          <p:cNvPr id="3" name="TextBox 2"/>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4" name="TextBox 3"/>
          <p:cNvSpPr txBox="1"/>
          <p:nvPr/>
        </p:nvSpPr>
        <p:spPr>
          <a:xfrm>
            <a:off x="457200" y="365760"/>
            <a:ext cx="10972800" cy="640080"/>
          </a:xfrm>
          <a:prstGeom prst="rect">
            <a:avLst/>
          </a:prstGeom>
          <a:noFill/>
        </p:spPr>
        <p:txBody>
          <a:bodyPr wrap="square">
            <a:spAutoFit/>
          </a:bodyPr>
          <a:lstStyle/>
          <a:p>
            <a:pPr algn="l"/>
            <a:r>
              <a:rPr sz="3200" b="1" i="0">
                <a:solidFill>
                  <a:srgbClr val="FFFFFF"/>
                </a:solidFill>
              </a:rPr>
              <a:t>Business Impact</a:t>
            </a:r>
          </a:p>
        </p:txBody>
      </p:sp>
      <p:sp>
        <p:nvSpPr>
          <p:cNvPr id="5" name="Rectangle 4"/>
          <p:cNvSpPr/>
          <p:nvPr/>
        </p:nvSpPr>
        <p:spPr>
          <a:xfrm>
            <a:off x="457200" y="1097280"/>
            <a:ext cx="11274552" cy="36576"/>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5212080" cy="914400"/>
          </a:xfrm>
          <a:prstGeom prst="rect">
            <a:avLst/>
          </a:prstGeom>
          <a:noFill/>
        </p:spPr>
        <p:txBody>
          <a:bodyPr wrap="square">
            <a:spAutoFit/>
          </a:bodyPr>
          <a:lstStyle/>
          <a:p>
            <a:pPr algn="l"/>
            <a:r>
              <a:rPr sz="4000" b="1" i="0">
                <a:solidFill>
                  <a:srgbClr val="FF6B35"/>
                </a:solidFill>
              </a:rPr>
              <a:t>₹8L–10L/mo</a:t>
            </a:r>
          </a:p>
        </p:txBody>
      </p:sp>
      <p:sp>
        <p:nvSpPr>
          <p:cNvPr id="8" name="TextBox 7"/>
          <p:cNvSpPr txBox="1"/>
          <p:nvPr/>
        </p:nvSpPr>
        <p:spPr>
          <a:xfrm>
            <a:off x="548640" y="2377440"/>
            <a:ext cx="5212080" cy="411480"/>
          </a:xfrm>
          <a:prstGeom prst="rect">
            <a:avLst/>
          </a:prstGeom>
          <a:noFill/>
        </p:spPr>
        <p:txBody>
          <a:bodyPr wrap="square">
            <a:spAutoFit/>
          </a:bodyPr>
          <a:lstStyle/>
          <a:p>
            <a:pPr algn="l"/>
            <a:r>
              <a:rPr sz="1600" b="1" i="0">
                <a:solidFill>
                  <a:srgbClr val="FFFFFF"/>
                </a:solidFill>
              </a:rPr>
              <a:t>agency cost replaced</a:t>
            </a:r>
          </a:p>
        </p:txBody>
      </p:sp>
      <p:sp>
        <p:nvSpPr>
          <p:cNvPr id="9" name="TextBox 8"/>
          <p:cNvSpPr txBox="1"/>
          <p:nvPr/>
        </p:nvSpPr>
        <p:spPr>
          <a:xfrm>
            <a:off x="548640" y="2834640"/>
            <a:ext cx="5212080" cy="365760"/>
          </a:xfrm>
          <a:prstGeom prst="rect">
            <a:avLst/>
          </a:prstGeom>
          <a:noFill/>
        </p:spPr>
        <p:txBody>
          <a:bodyPr wrap="square">
            <a:spAutoFit/>
          </a:bodyPr>
          <a:lstStyle/>
          <a:p>
            <a:pPr algn="l"/>
            <a:r>
              <a:rPr sz="1100" b="0" i="0">
                <a:solidFill>
                  <a:srgbClr val="E8D5F5"/>
                </a:solidFill>
              </a:rPr>
              <a:t>Traditional 4-person content team</a:t>
            </a:r>
          </a:p>
        </p:txBody>
      </p:sp>
      <p:sp>
        <p:nvSpPr>
          <p:cNvPr id="10" name="Rectangle 9"/>
          <p:cNvSpPr/>
          <p:nvPr/>
        </p:nvSpPr>
        <p:spPr>
          <a:xfrm>
            <a:off x="365760" y="352044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611880"/>
            <a:ext cx="5212080" cy="914400"/>
          </a:xfrm>
          <a:prstGeom prst="rect">
            <a:avLst/>
          </a:prstGeom>
          <a:noFill/>
        </p:spPr>
        <p:txBody>
          <a:bodyPr wrap="square">
            <a:spAutoFit/>
          </a:bodyPr>
          <a:lstStyle/>
          <a:p>
            <a:pPr algn="l"/>
            <a:r>
              <a:rPr sz="4000" b="1" i="0">
                <a:solidFill>
                  <a:srgbClr val="FFFFFF"/>
                </a:solidFill>
              </a:rPr>
              <a:t>₹14,000/mo</a:t>
            </a:r>
          </a:p>
        </p:txBody>
      </p:sp>
      <p:sp>
        <p:nvSpPr>
          <p:cNvPr id="12" name="TextBox 11"/>
          <p:cNvSpPr txBox="1"/>
          <p:nvPr/>
        </p:nvSpPr>
        <p:spPr>
          <a:xfrm>
            <a:off x="548640" y="4526280"/>
            <a:ext cx="5212080" cy="411480"/>
          </a:xfrm>
          <a:prstGeom prst="rect">
            <a:avLst/>
          </a:prstGeom>
          <a:noFill/>
        </p:spPr>
        <p:txBody>
          <a:bodyPr wrap="square">
            <a:spAutoFit/>
          </a:bodyPr>
          <a:lstStyle/>
          <a:p>
            <a:pPr algn="l"/>
            <a:r>
              <a:rPr sz="1600" b="1" i="0">
                <a:solidFill>
                  <a:srgbClr val="FFFFFF"/>
                </a:solidFill>
              </a:rPr>
              <a:t>all-in AI cost</a:t>
            </a:r>
          </a:p>
        </p:txBody>
      </p:sp>
      <p:sp>
        <p:nvSpPr>
          <p:cNvPr id="13" name="TextBox 12"/>
          <p:cNvSpPr txBox="1"/>
          <p:nvPr/>
        </p:nvSpPr>
        <p:spPr>
          <a:xfrm>
            <a:off x="548640" y="4983480"/>
            <a:ext cx="5212080" cy="365760"/>
          </a:xfrm>
          <a:prstGeom prst="rect">
            <a:avLst/>
          </a:prstGeom>
          <a:noFill/>
        </p:spPr>
        <p:txBody>
          <a:bodyPr wrap="square">
            <a:spAutoFit/>
          </a:bodyPr>
          <a:lstStyle/>
          <a:p>
            <a:pPr algn="l"/>
            <a:r>
              <a:rPr sz="1100" b="0" i="0">
                <a:solidFill>
                  <a:srgbClr val="E8D5F5"/>
                </a:solidFill>
              </a:rPr>
              <a:t>LLM + infra + search APIs</a:t>
            </a:r>
          </a:p>
        </p:txBody>
      </p:sp>
      <p:sp>
        <p:nvSpPr>
          <p:cNvPr id="14" name="Rectangle 13"/>
          <p:cNvSpPr/>
          <p:nvPr/>
        </p:nvSpPr>
        <p:spPr>
          <a:xfrm>
            <a:off x="365760" y="566928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5212080" cy="914400"/>
          </a:xfrm>
          <a:prstGeom prst="rect">
            <a:avLst/>
          </a:prstGeom>
          <a:noFill/>
        </p:spPr>
        <p:txBody>
          <a:bodyPr wrap="square">
            <a:spAutoFit/>
          </a:bodyPr>
          <a:lstStyle/>
          <a:p>
            <a:pPr algn="l"/>
            <a:r>
              <a:rPr sz="4000" b="1" i="0">
                <a:solidFill>
                  <a:srgbClr val="FF6B35"/>
                </a:solidFill>
              </a:rPr>
              <a:t>97%</a:t>
            </a:r>
          </a:p>
        </p:txBody>
      </p:sp>
      <p:sp>
        <p:nvSpPr>
          <p:cNvPr id="16" name="TextBox 15"/>
          <p:cNvSpPr txBox="1"/>
          <p:nvPr/>
        </p:nvSpPr>
        <p:spPr>
          <a:xfrm>
            <a:off x="548640" y="6675120"/>
            <a:ext cx="5212080" cy="411480"/>
          </a:xfrm>
          <a:prstGeom prst="rect">
            <a:avLst/>
          </a:prstGeom>
          <a:noFill/>
        </p:spPr>
        <p:txBody>
          <a:bodyPr wrap="square">
            <a:spAutoFit/>
          </a:bodyPr>
          <a:lstStyle/>
          <a:p>
            <a:pPr algn="l"/>
            <a:r>
              <a:rPr sz="1600" b="1" i="0">
                <a:solidFill>
                  <a:srgbClr val="FFFFFF"/>
                </a:solidFill>
              </a:rPr>
              <a:t>cost reduction</a:t>
            </a:r>
          </a:p>
        </p:txBody>
      </p:sp>
      <p:sp>
        <p:nvSpPr>
          <p:cNvPr id="17" name="TextBox 16"/>
          <p:cNvSpPr txBox="1"/>
          <p:nvPr/>
        </p:nvSpPr>
        <p:spPr>
          <a:xfrm>
            <a:off x="548640" y="7132320"/>
            <a:ext cx="5212080" cy="365760"/>
          </a:xfrm>
          <a:prstGeom prst="rect">
            <a:avLst/>
          </a:prstGeom>
          <a:noFill/>
        </p:spPr>
        <p:txBody>
          <a:bodyPr wrap="square">
            <a:spAutoFit/>
          </a:bodyPr>
          <a:lstStyle/>
          <a:p>
            <a:pPr algn="l"/>
            <a:r>
              <a:rPr sz="1100" b="0" i="0">
                <a:solidFill>
                  <a:srgbClr val="E8D5F5"/>
                </a:solidFill>
              </a:rPr>
              <a:t>Payback period: &lt; 2 months</a:t>
            </a:r>
          </a:p>
        </p:txBody>
      </p:sp>
      <p:sp>
        <p:nvSpPr>
          <p:cNvPr id="18" name="Rectangle 17"/>
          <p:cNvSpPr/>
          <p:nvPr/>
        </p:nvSpPr>
        <p:spPr>
          <a:xfrm>
            <a:off x="6309360" y="137160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463040"/>
            <a:ext cx="5212080" cy="914400"/>
          </a:xfrm>
          <a:prstGeom prst="rect">
            <a:avLst/>
          </a:prstGeom>
          <a:noFill/>
        </p:spPr>
        <p:txBody>
          <a:bodyPr wrap="square">
            <a:spAutoFit/>
          </a:bodyPr>
          <a:lstStyle/>
          <a:p>
            <a:pPr algn="l"/>
            <a:r>
              <a:rPr sz="4000" b="1" i="0">
                <a:solidFill>
                  <a:srgbClr val="FFFFFF"/>
                </a:solidFill>
              </a:rPr>
              <a:t>300</a:t>
            </a:r>
          </a:p>
        </p:txBody>
      </p:sp>
      <p:sp>
        <p:nvSpPr>
          <p:cNvPr id="20" name="TextBox 19"/>
          <p:cNvSpPr txBox="1"/>
          <p:nvPr/>
        </p:nvSpPr>
        <p:spPr>
          <a:xfrm>
            <a:off x="6492240" y="2377440"/>
            <a:ext cx="5212080" cy="411480"/>
          </a:xfrm>
          <a:prstGeom prst="rect">
            <a:avLst/>
          </a:prstGeom>
          <a:noFill/>
        </p:spPr>
        <p:txBody>
          <a:bodyPr wrap="square">
            <a:spAutoFit/>
          </a:bodyPr>
          <a:lstStyle/>
          <a:p>
            <a:pPr algn="l"/>
            <a:r>
              <a:rPr sz="1600" b="1" i="0">
                <a:solidFill>
                  <a:srgbClr val="FFFFFF"/>
                </a:solidFill>
              </a:rPr>
              <a:t>posts / month</a:t>
            </a:r>
          </a:p>
        </p:txBody>
      </p:sp>
      <p:sp>
        <p:nvSpPr>
          <p:cNvPr id="21" name="TextBox 20"/>
          <p:cNvSpPr txBox="1"/>
          <p:nvPr/>
        </p:nvSpPr>
        <p:spPr>
          <a:xfrm>
            <a:off x="6492240" y="2834640"/>
            <a:ext cx="5212080" cy="365760"/>
          </a:xfrm>
          <a:prstGeom prst="rect">
            <a:avLst/>
          </a:prstGeom>
          <a:noFill/>
        </p:spPr>
        <p:txBody>
          <a:bodyPr wrap="square">
            <a:spAutoFit/>
          </a:bodyPr>
          <a:lstStyle/>
          <a:p>
            <a:pPr algn="l"/>
            <a:r>
              <a:rPr sz="1100" b="0" i="0">
                <a:solidFill>
                  <a:srgbClr val="E8D5F5"/>
                </a:solidFill>
              </a:rPr>
              <a:t>vs ~60–80 from human team  (5× volume)</a:t>
            </a:r>
          </a:p>
        </p:txBody>
      </p:sp>
      <p:sp>
        <p:nvSpPr>
          <p:cNvPr id="22" name="Rectangle 21"/>
          <p:cNvSpPr/>
          <p:nvPr/>
        </p:nvSpPr>
        <p:spPr>
          <a:xfrm>
            <a:off x="6309360" y="352044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611880"/>
            <a:ext cx="5212080" cy="914400"/>
          </a:xfrm>
          <a:prstGeom prst="rect">
            <a:avLst/>
          </a:prstGeom>
          <a:noFill/>
        </p:spPr>
        <p:txBody>
          <a:bodyPr wrap="square">
            <a:spAutoFit/>
          </a:bodyPr>
          <a:lstStyle/>
          <a:p>
            <a:pPr algn="l"/>
            <a:r>
              <a:rPr sz="4000" b="1" i="0">
                <a:solidFill>
                  <a:srgbClr val="FFFFFF"/>
                </a:solidFill>
              </a:rPr>
              <a:t>5</a:t>
            </a:r>
          </a:p>
        </p:txBody>
      </p:sp>
      <p:sp>
        <p:nvSpPr>
          <p:cNvPr id="24" name="TextBox 23"/>
          <p:cNvSpPr txBox="1"/>
          <p:nvPr/>
        </p:nvSpPr>
        <p:spPr>
          <a:xfrm>
            <a:off x="6492240" y="4526280"/>
            <a:ext cx="5212080" cy="411480"/>
          </a:xfrm>
          <a:prstGeom prst="rect">
            <a:avLst/>
          </a:prstGeom>
          <a:noFill/>
        </p:spPr>
        <p:txBody>
          <a:bodyPr wrap="square">
            <a:spAutoFit/>
          </a:bodyPr>
          <a:lstStyle/>
          <a:p>
            <a:pPr algn="l"/>
            <a:r>
              <a:rPr sz="1600" b="1" i="0">
                <a:solidFill>
                  <a:srgbClr val="FFFFFF"/>
                </a:solidFill>
              </a:rPr>
              <a:t>platforms</a:t>
            </a:r>
          </a:p>
        </p:txBody>
      </p:sp>
      <p:sp>
        <p:nvSpPr>
          <p:cNvPr id="25" name="TextBox 24"/>
          <p:cNvSpPr txBox="1"/>
          <p:nvPr/>
        </p:nvSpPr>
        <p:spPr>
          <a:xfrm>
            <a:off x="6492240" y="4983480"/>
            <a:ext cx="5212080" cy="365760"/>
          </a:xfrm>
          <a:prstGeom prst="rect">
            <a:avLst/>
          </a:prstGeom>
          <a:noFill/>
        </p:spPr>
        <p:txBody>
          <a:bodyPr wrap="square">
            <a:spAutoFit/>
          </a:bodyPr>
          <a:lstStyle/>
          <a:p>
            <a:pPr algn="l"/>
            <a:r>
              <a:rPr sz="1100" b="0" i="0">
                <a:solidFill>
                  <a:srgbClr val="E8D5F5"/>
                </a:solidFill>
              </a:rPr>
              <a:t>Twitter, Instagram, YouTube, LinkedIn, Housing.com News</a:t>
            </a:r>
          </a:p>
        </p:txBody>
      </p:sp>
      <p:sp>
        <p:nvSpPr>
          <p:cNvPr id="26" name="Rectangle 25"/>
          <p:cNvSpPr/>
          <p:nvPr/>
        </p:nvSpPr>
        <p:spPr>
          <a:xfrm>
            <a:off x="6309360" y="5669280"/>
            <a:ext cx="5577840" cy="19202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760720"/>
            <a:ext cx="5212080" cy="914400"/>
          </a:xfrm>
          <a:prstGeom prst="rect">
            <a:avLst/>
          </a:prstGeom>
          <a:noFill/>
        </p:spPr>
        <p:txBody>
          <a:bodyPr wrap="square">
            <a:spAutoFit/>
          </a:bodyPr>
          <a:lstStyle/>
          <a:p>
            <a:pPr algn="l"/>
            <a:r>
              <a:rPr sz="4000" b="1" i="0">
                <a:solidFill>
                  <a:srgbClr val="FFFFFF"/>
                </a:solidFill>
              </a:rPr>
              <a:t>&lt;2 min</a:t>
            </a:r>
          </a:p>
        </p:txBody>
      </p:sp>
      <p:sp>
        <p:nvSpPr>
          <p:cNvPr id="28" name="TextBox 27"/>
          <p:cNvSpPr txBox="1"/>
          <p:nvPr/>
        </p:nvSpPr>
        <p:spPr>
          <a:xfrm>
            <a:off x="6492240" y="6675120"/>
            <a:ext cx="5212080" cy="411480"/>
          </a:xfrm>
          <a:prstGeom prst="rect">
            <a:avLst/>
          </a:prstGeom>
          <a:noFill/>
        </p:spPr>
        <p:txBody>
          <a:bodyPr wrap="square">
            <a:spAutoFit/>
          </a:bodyPr>
          <a:lstStyle/>
          <a:p>
            <a:pPr algn="l"/>
            <a:r>
              <a:rPr sz="1600" b="1" i="0">
                <a:solidFill>
                  <a:srgbClr val="FFFFFF"/>
                </a:solidFill>
              </a:rPr>
              <a:t>per full pipeline run</a:t>
            </a:r>
          </a:p>
        </p:txBody>
      </p:sp>
      <p:sp>
        <p:nvSpPr>
          <p:cNvPr id="29" name="TextBox 28"/>
          <p:cNvSpPr txBox="1"/>
          <p:nvPr/>
        </p:nvSpPr>
        <p:spPr>
          <a:xfrm>
            <a:off x="6492240" y="7132320"/>
            <a:ext cx="5212080" cy="365760"/>
          </a:xfrm>
          <a:prstGeom prst="rect">
            <a:avLst/>
          </a:prstGeom>
          <a:noFill/>
        </p:spPr>
        <p:txBody>
          <a:bodyPr wrap="square">
            <a:spAutoFit/>
          </a:bodyPr>
          <a:lstStyle/>
          <a:p>
            <a:pPr algn="l"/>
            <a:r>
              <a:rPr sz="1100" b="0" i="0">
                <a:solidFill>
                  <a:srgbClr val="E8D5F5"/>
                </a:solidFill>
              </a:rPr>
              <a:t>Trend → QA → Ready to publish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Scale: 6-Month Content Compounding Projection</a:t>
            </a:r>
          </a:p>
        </p:txBody>
      </p:sp>
      <p:pic>
        <p:nvPicPr>
          <p:cNvPr id="4" name="Picture 3" descr="image.png"/>
          <p:cNvPicPr>
            <a:picLocks noChangeAspect="1"/>
          </p:cNvPicPr>
          <p:nvPr/>
        </p:nvPicPr>
        <p:blipFill>
          <a:blip r:embed="rId2"/>
          <a:stretch>
            <a:fillRect/>
          </a:stretch>
        </p:blipFill>
        <p:spPr>
          <a:xfrm>
            <a:off x="365760" y="1280160"/>
            <a:ext cx="11430000" cy="4389120"/>
          </a:xfrm>
          <a:prstGeom prst="rect">
            <a:avLst/>
          </a:prstGeom>
        </p:spPr>
      </p:pic>
      <p:sp>
        <p:nvSpPr>
          <p:cNvPr id="5" name="TextBox 4"/>
          <p:cNvSpPr txBox="1"/>
          <p:nvPr/>
        </p:nvSpPr>
        <p:spPr>
          <a:xfrm>
            <a:off x="457200" y="5943600"/>
            <a:ext cx="10972800" cy="457200"/>
          </a:xfrm>
          <a:prstGeom prst="rect">
            <a:avLst/>
          </a:prstGeom>
          <a:noFill/>
        </p:spPr>
        <p:txBody>
          <a:bodyPr wrap="square">
            <a:spAutoFit/>
          </a:bodyPr>
          <a:lstStyle/>
          <a:p>
            <a:pPr algn="l"/>
            <a:r>
              <a:rPr sz="1100" b="0" i="1">
                <a:solidFill>
                  <a:srgbClr val="555555"/>
                </a:solidFill>
              </a:rPr>
              <a:t>Engagement estimates based on Housing.com platform benchmarks  ·  Twitter ER: 1.5–7%  ·  Instagram ER: 5–7%  ·  News CTR: 2–3%</a:t>
            </a:r>
          </a:p>
        </p:txBody>
      </p:sp>
      <p:sp>
        <p:nvSpPr>
          <p:cNvPr id="6" name="TextBox 5"/>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13</a:t>
            </a:r>
          </a:p>
        </p:txBody>
      </p:sp>
      <p:sp>
        <p:nvSpPr>
          <p:cNvPr id="7" name="TextBox 6"/>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The Feedback Flywheel: The System Gets Smarter Every Day</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14</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pic>
        <p:nvPicPr>
          <p:cNvPr id="6" name="Picture 5" descr="image.png"/>
          <p:cNvPicPr>
            <a:picLocks noChangeAspect="1"/>
          </p:cNvPicPr>
          <p:nvPr/>
        </p:nvPicPr>
        <p:blipFill>
          <a:blip r:embed="rId2"/>
          <a:stretch>
            <a:fillRect/>
          </a:stretch>
        </p:blipFill>
        <p:spPr>
          <a:xfrm>
            <a:off x="274320" y="1371600"/>
            <a:ext cx="4114800" cy="4389120"/>
          </a:xfrm>
          <a:prstGeom prst="rect">
            <a:avLst/>
          </a:prstGeom>
        </p:spPr>
      </p:pic>
      <p:sp>
        <p:nvSpPr>
          <p:cNvPr id="7" name="TextBox 6"/>
          <p:cNvSpPr txBox="1"/>
          <p:nvPr/>
        </p:nvSpPr>
        <p:spPr>
          <a:xfrm>
            <a:off x="4572000" y="1554480"/>
            <a:ext cx="7132320" cy="411480"/>
          </a:xfrm>
          <a:prstGeom prst="rect">
            <a:avLst/>
          </a:prstGeom>
          <a:noFill/>
        </p:spPr>
        <p:txBody>
          <a:bodyPr wrap="square">
            <a:spAutoFit/>
          </a:bodyPr>
          <a:lstStyle/>
          <a:p>
            <a:pPr algn="l"/>
            <a:r>
              <a:rPr sz="1500" b="1" i="0">
                <a:solidFill>
                  <a:srgbClr val="6B2D8B"/>
                </a:solidFill>
              </a:rPr>
              <a:t>How the loop works:</a:t>
            </a:r>
          </a:p>
        </p:txBody>
      </p:sp>
      <p:sp>
        <p:nvSpPr>
          <p:cNvPr id="8" name="Rectangle 7"/>
          <p:cNvSpPr/>
          <p:nvPr/>
        </p:nvSpPr>
        <p:spPr>
          <a:xfrm>
            <a:off x="4572000" y="2011680"/>
            <a:ext cx="640080"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640080" cy="548640"/>
          </a:xfrm>
          <a:prstGeom prst="rect">
            <a:avLst/>
          </a:prstGeom>
          <a:noFill/>
        </p:spPr>
        <p:txBody>
          <a:bodyPr wrap="square">
            <a:spAutoFit/>
          </a:bodyPr>
          <a:lstStyle/>
          <a:p>
            <a:pPr algn="ctr"/>
            <a:r>
              <a:rPr sz="1100" b="1" i="0">
                <a:solidFill>
                  <a:srgbClr val="FFFFFF"/>
                </a:solidFill>
              </a:rPr>
              <a:t>1. Publish</a:t>
            </a:r>
          </a:p>
        </p:txBody>
      </p:sp>
      <p:sp>
        <p:nvSpPr>
          <p:cNvPr id="10" name="TextBox 9"/>
          <p:cNvSpPr txBox="1"/>
          <p:nvPr/>
        </p:nvSpPr>
        <p:spPr>
          <a:xfrm>
            <a:off x="5349240" y="2103120"/>
            <a:ext cx="6492240" cy="457200"/>
          </a:xfrm>
          <a:prstGeom prst="rect">
            <a:avLst/>
          </a:prstGeom>
          <a:noFill/>
        </p:spPr>
        <p:txBody>
          <a:bodyPr wrap="square">
            <a:spAutoFit/>
          </a:bodyPr>
          <a:lstStyle/>
          <a:p>
            <a:pPr algn="l"/>
            <a:r>
              <a:rPr sz="1200" b="0" i="0">
                <a:solidFill>
                  <a:srgbClr val="1A1A2E"/>
                </a:solidFill>
              </a:rPr>
              <a:t>Every approved post is stored with QA scores + predicted engagement</a:t>
            </a:r>
          </a:p>
        </p:txBody>
      </p:sp>
      <p:sp>
        <p:nvSpPr>
          <p:cNvPr id="11" name="Rectangle 10"/>
          <p:cNvSpPr/>
          <p:nvPr/>
        </p:nvSpPr>
        <p:spPr>
          <a:xfrm>
            <a:off x="4572000" y="2761488"/>
            <a:ext cx="640080"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761488"/>
            <a:ext cx="640080" cy="548640"/>
          </a:xfrm>
          <a:prstGeom prst="rect">
            <a:avLst/>
          </a:prstGeom>
          <a:noFill/>
        </p:spPr>
        <p:txBody>
          <a:bodyPr wrap="square">
            <a:spAutoFit/>
          </a:bodyPr>
          <a:lstStyle/>
          <a:p>
            <a:pPr algn="ctr"/>
            <a:r>
              <a:rPr sz="1100" b="1" i="0">
                <a:solidFill>
                  <a:srgbClr val="FFFFFF"/>
                </a:solidFill>
              </a:rPr>
              <a:t>2. Track</a:t>
            </a:r>
          </a:p>
        </p:txBody>
      </p:sp>
      <p:sp>
        <p:nvSpPr>
          <p:cNvPr id="13" name="TextBox 12"/>
          <p:cNvSpPr txBox="1"/>
          <p:nvPr/>
        </p:nvSpPr>
        <p:spPr>
          <a:xfrm>
            <a:off x="5349240" y="2852928"/>
            <a:ext cx="6492240" cy="457200"/>
          </a:xfrm>
          <a:prstGeom prst="rect">
            <a:avLst/>
          </a:prstGeom>
          <a:noFill/>
        </p:spPr>
        <p:txBody>
          <a:bodyPr wrap="square">
            <a:spAutoFit/>
          </a:bodyPr>
          <a:lstStyle/>
          <a:p>
            <a:pPr algn="l"/>
            <a:r>
              <a:rPr sz="1200" b="0" i="0">
                <a:solidFill>
                  <a:srgbClr val="1A1A2E"/>
                </a:solidFill>
              </a:rPr>
              <a:t>Engagement jobs fetch actual metrics at 6h, 24h, and 7 days post-publish</a:t>
            </a:r>
          </a:p>
        </p:txBody>
      </p:sp>
      <p:sp>
        <p:nvSpPr>
          <p:cNvPr id="14" name="Rectangle 13"/>
          <p:cNvSpPr/>
          <p:nvPr/>
        </p:nvSpPr>
        <p:spPr>
          <a:xfrm>
            <a:off x="4572000" y="3511296"/>
            <a:ext cx="640080"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3511296"/>
            <a:ext cx="640080" cy="548640"/>
          </a:xfrm>
          <a:prstGeom prst="rect">
            <a:avLst/>
          </a:prstGeom>
          <a:noFill/>
        </p:spPr>
        <p:txBody>
          <a:bodyPr wrap="square">
            <a:spAutoFit/>
          </a:bodyPr>
          <a:lstStyle/>
          <a:p>
            <a:pPr algn="ctr"/>
            <a:r>
              <a:rPr sz="1100" b="1" i="0">
                <a:solidFill>
                  <a:srgbClr val="FFFFFF"/>
                </a:solidFill>
              </a:rPr>
              <a:t>3. Learn</a:t>
            </a:r>
          </a:p>
        </p:txBody>
      </p:sp>
      <p:sp>
        <p:nvSpPr>
          <p:cNvPr id="16" name="TextBox 15"/>
          <p:cNvSpPr txBox="1"/>
          <p:nvPr/>
        </p:nvSpPr>
        <p:spPr>
          <a:xfrm>
            <a:off x="5349240" y="3602736"/>
            <a:ext cx="6492240" cy="457200"/>
          </a:xfrm>
          <a:prstGeom prst="rect">
            <a:avLst/>
          </a:prstGeom>
          <a:noFill/>
        </p:spPr>
        <p:txBody>
          <a:bodyPr wrap="square">
            <a:spAutoFit/>
          </a:bodyPr>
          <a:lstStyle/>
          <a:p>
            <a:pPr algn="l"/>
            <a:r>
              <a:rPr sz="1200" b="0" i="0">
                <a:solidFill>
                  <a:srgbClr val="1A1A2E"/>
                </a:solidFill>
              </a:rPr>
              <a:t>get_performance_history() identifies top/bottom performers by topic, tone, city</a:t>
            </a:r>
          </a:p>
        </p:txBody>
      </p:sp>
      <p:sp>
        <p:nvSpPr>
          <p:cNvPr id="17" name="Rectangle 16"/>
          <p:cNvSpPr/>
          <p:nvPr/>
        </p:nvSpPr>
        <p:spPr>
          <a:xfrm>
            <a:off x="4572000" y="4261104"/>
            <a:ext cx="640080"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261104"/>
            <a:ext cx="640080" cy="548640"/>
          </a:xfrm>
          <a:prstGeom prst="rect">
            <a:avLst/>
          </a:prstGeom>
          <a:noFill/>
        </p:spPr>
        <p:txBody>
          <a:bodyPr wrap="square">
            <a:spAutoFit/>
          </a:bodyPr>
          <a:lstStyle/>
          <a:p>
            <a:pPr algn="ctr"/>
            <a:r>
              <a:rPr sz="1100" b="1" i="0">
                <a:solidFill>
                  <a:srgbClr val="FFFFFF"/>
                </a:solidFill>
              </a:rPr>
              <a:t>4. Inject</a:t>
            </a:r>
          </a:p>
        </p:txBody>
      </p:sp>
      <p:sp>
        <p:nvSpPr>
          <p:cNvPr id="19" name="TextBox 18"/>
          <p:cNvSpPr txBox="1"/>
          <p:nvPr/>
        </p:nvSpPr>
        <p:spPr>
          <a:xfrm>
            <a:off x="5349240" y="4352544"/>
            <a:ext cx="6492240" cy="457200"/>
          </a:xfrm>
          <a:prstGeom prst="rect">
            <a:avLst/>
          </a:prstGeom>
          <a:noFill/>
        </p:spPr>
        <p:txBody>
          <a:bodyPr wrap="square">
            <a:spAutoFit/>
          </a:bodyPr>
          <a:lstStyle/>
          <a:p>
            <a:pPr algn="l"/>
            <a:r>
              <a:rPr sz="1200" b="0" i="0">
                <a:solidFill>
                  <a:srgbClr val="1A1A2E"/>
                </a:solidFill>
              </a:rPr>
              <a:t>Performance context injected into social_creative prompt every run</a:t>
            </a:r>
          </a:p>
        </p:txBody>
      </p:sp>
      <p:sp>
        <p:nvSpPr>
          <p:cNvPr id="20" name="Rectangle 19"/>
          <p:cNvSpPr/>
          <p:nvPr/>
        </p:nvSpPr>
        <p:spPr>
          <a:xfrm>
            <a:off x="4572000" y="5010912"/>
            <a:ext cx="640080" cy="54864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5010912"/>
            <a:ext cx="640080" cy="548640"/>
          </a:xfrm>
          <a:prstGeom prst="rect">
            <a:avLst/>
          </a:prstGeom>
          <a:noFill/>
        </p:spPr>
        <p:txBody>
          <a:bodyPr wrap="square">
            <a:spAutoFit/>
          </a:bodyPr>
          <a:lstStyle/>
          <a:p>
            <a:pPr algn="ctr"/>
            <a:r>
              <a:rPr sz="1100" b="1" i="0">
                <a:solidFill>
                  <a:srgbClr val="FFFFFF"/>
                </a:solidFill>
              </a:rPr>
              <a:t>5. Improve</a:t>
            </a:r>
          </a:p>
        </p:txBody>
      </p:sp>
      <p:sp>
        <p:nvSpPr>
          <p:cNvPr id="22" name="TextBox 21"/>
          <p:cNvSpPr txBox="1"/>
          <p:nvPr/>
        </p:nvSpPr>
        <p:spPr>
          <a:xfrm>
            <a:off x="5349240" y="5102352"/>
            <a:ext cx="6492240" cy="457200"/>
          </a:xfrm>
          <a:prstGeom prst="rect">
            <a:avLst/>
          </a:prstGeom>
          <a:noFill/>
        </p:spPr>
        <p:txBody>
          <a:bodyPr wrap="square">
            <a:spAutoFit/>
          </a:bodyPr>
          <a:lstStyle/>
          <a:p>
            <a:pPr algn="l"/>
            <a:r>
              <a:rPr sz="1200" b="0" i="0">
                <a:solidFill>
                  <a:srgbClr val="1A1A2E"/>
                </a:solidFill>
              </a:rPr>
              <a:t>Creative agent learns: cricket+Bengaluru gets 3× more ER than market analysis</a:t>
            </a:r>
          </a:p>
        </p:txBody>
      </p:sp>
      <p:sp>
        <p:nvSpPr>
          <p:cNvPr id="23" name="TextBox 22"/>
          <p:cNvSpPr txBox="1"/>
          <p:nvPr/>
        </p:nvSpPr>
        <p:spPr>
          <a:xfrm>
            <a:off x="457200" y="6080760"/>
            <a:ext cx="11247120" cy="365760"/>
          </a:xfrm>
          <a:prstGeom prst="rect">
            <a:avLst/>
          </a:prstGeom>
          <a:noFill/>
        </p:spPr>
        <p:txBody>
          <a:bodyPr wrap="square">
            <a:spAutoFit/>
          </a:bodyPr>
          <a:lstStyle/>
          <a:p>
            <a:pPr algn="l"/>
            <a:r>
              <a:rPr sz="1100" b="0" i="1">
                <a:solidFill>
                  <a:srgbClr val="555555"/>
                </a:solidFill>
              </a:rPr>
              <a:t>Realistic improvement: ~22% engagement rate gain over first 50 runs  ·  Plateaus as easy signal is harvested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Deployment: 5 Ways to Run It</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15</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365760" y="1645920"/>
            <a:ext cx="3611880" cy="2011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37360"/>
            <a:ext cx="3291840" cy="411480"/>
          </a:xfrm>
          <a:prstGeom prst="rect">
            <a:avLst/>
          </a:prstGeom>
          <a:noFill/>
        </p:spPr>
        <p:txBody>
          <a:bodyPr wrap="square">
            <a:spAutoFit/>
          </a:bodyPr>
          <a:lstStyle/>
          <a:p>
            <a:pPr algn="l"/>
            <a:r>
              <a:rPr sz="1400" b="1" i="0">
                <a:solidFill>
                  <a:srgbClr val="6B2D8B"/>
                </a:solidFill>
              </a:rPr>
              <a:t>🖥  Scheduled Server</a:t>
            </a:r>
          </a:p>
        </p:txBody>
      </p:sp>
      <p:sp>
        <p:nvSpPr>
          <p:cNvPr id="8" name="Rectangle 7"/>
          <p:cNvSpPr/>
          <p:nvPr/>
        </p:nvSpPr>
        <p:spPr>
          <a:xfrm>
            <a:off x="502920" y="2194560"/>
            <a:ext cx="333756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21992"/>
            <a:ext cx="3200400" cy="292608"/>
          </a:xfrm>
          <a:prstGeom prst="rect">
            <a:avLst/>
          </a:prstGeom>
          <a:noFill/>
        </p:spPr>
        <p:txBody>
          <a:bodyPr wrap="square">
            <a:spAutoFit/>
          </a:bodyPr>
          <a:lstStyle/>
          <a:p>
            <a:pPr algn="l"/>
            <a:r>
              <a:rPr sz="1100" b="1" i="0">
                <a:solidFill>
                  <a:srgbClr val="7BFF8B"/>
                </a:solidFill>
              </a:rPr>
              <a:t>python main.py serve</a:t>
            </a:r>
          </a:p>
        </p:txBody>
      </p:sp>
      <p:sp>
        <p:nvSpPr>
          <p:cNvPr id="10" name="TextBox 9"/>
          <p:cNvSpPr txBox="1"/>
          <p:nvPr/>
        </p:nvSpPr>
        <p:spPr>
          <a:xfrm>
            <a:off x="502920" y="2651760"/>
            <a:ext cx="3337560" cy="822960"/>
          </a:xfrm>
          <a:prstGeom prst="rect">
            <a:avLst/>
          </a:prstGeom>
          <a:noFill/>
        </p:spPr>
        <p:txBody>
          <a:bodyPr wrap="square">
            <a:spAutoFit/>
          </a:bodyPr>
          <a:lstStyle/>
          <a:p>
            <a:pPr algn="l"/>
            <a:r>
              <a:rPr sz="1100" b="0" i="0">
                <a:solidFill>
                  <a:srgbClr val="1A1A2E"/>
                </a:solidFill>
              </a:rPr>
              <a:t>9 AM + 6 PM IST daily. APScheduler triggers automatically. FastAPI REST API for manual control.</a:t>
            </a:r>
          </a:p>
        </p:txBody>
      </p:sp>
      <p:sp>
        <p:nvSpPr>
          <p:cNvPr id="11" name="Rectangle 10"/>
          <p:cNvSpPr/>
          <p:nvPr/>
        </p:nvSpPr>
        <p:spPr>
          <a:xfrm>
            <a:off x="4279392" y="1645920"/>
            <a:ext cx="3611880" cy="2011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6552" y="1737360"/>
            <a:ext cx="3291840" cy="411480"/>
          </a:xfrm>
          <a:prstGeom prst="rect">
            <a:avLst/>
          </a:prstGeom>
          <a:noFill/>
        </p:spPr>
        <p:txBody>
          <a:bodyPr wrap="square">
            <a:spAutoFit/>
          </a:bodyPr>
          <a:lstStyle/>
          <a:p>
            <a:pPr algn="l"/>
            <a:r>
              <a:rPr sz="1400" b="1" i="0">
                <a:solidFill>
                  <a:srgbClr val="6B2D8B"/>
                </a:solidFill>
              </a:rPr>
              <a:t>💬  Slack Bot</a:t>
            </a:r>
          </a:p>
        </p:txBody>
      </p:sp>
      <p:sp>
        <p:nvSpPr>
          <p:cNvPr id="13" name="Rectangle 12"/>
          <p:cNvSpPr/>
          <p:nvPr/>
        </p:nvSpPr>
        <p:spPr>
          <a:xfrm>
            <a:off x="4416552" y="2194560"/>
            <a:ext cx="333756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2221992"/>
            <a:ext cx="3200400" cy="292608"/>
          </a:xfrm>
          <a:prstGeom prst="rect">
            <a:avLst/>
          </a:prstGeom>
          <a:noFill/>
        </p:spPr>
        <p:txBody>
          <a:bodyPr wrap="square">
            <a:spAutoFit/>
          </a:bodyPr>
          <a:lstStyle/>
          <a:p>
            <a:pPr algn="l"/>
            <a:r>
              <a:rPr sz="1100" b="1" i="0">
                <a:solidFill>
                  <a:srgbClr val="7BFF8B"/>
                </a:solidFill>
              </a:rPr>
              <a:t>python main.py slack-bot</a:t>
            </a:r>
          </a:p>
        </p:txBody>
      </p:sp>
      <p:sp>
        <p:nvSpPr>
          <p:cNvPr id="15" name="TextBox 14"/>
          <p:cNvSpPr txBox="1"/>
          <p:nvPr/>
        </p:nvSpPr>
        <p:spPr>
          <a:xfrm>
            <a:off x="4416552" y="2651760"/>
            <a:ext cx="3337560" cy="822960"/>
          </a:xfrm>
          <a:prstGeom prst="rect">
            <a:avLst/>
          </a:prstGeom>
          <a:noFill/>
        </p:spPr>
        <p:txBody>
          <a:bodyPr wrap="square">
            <a:spAutoFit/>
          </a:bodyPr>
          <a:lstStyle/>
          <a:p>
            <a:pPr algn="l"/>
            <a:r>
              <a:rPr sz="1100" b="0" i="0">
                <a:solidFill>
                  <a:srgbClr val="1A1A2E"/>
                </a:solidFill>
              </a:rPr>
              <a:t>DM '@HousingBot content idea' → pipeline runs → Slack thread reply in 2 mins. Triggered by marketing team.</a:t>
            </a:r>
          </a:p>
        </p:txBody>
      </p:sp>
      <p:sp>
        <p:nvSpPr>
          <p:cNvPr id="16" name="Rectangle 15"/>
          <p:cNvSpPr/>
          <p:nvPr/>
        </p:nvSpPr>
        <p:spPr>
          <a:xfrm>
            <a:off x="8193024" y="1645920"/>
            <a:ext cx="3611880" cy="2011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4" y="1737360"/>
            <a:ext cx="3291840" cy="411480"/>
          </a:xfrm>
          <a:prstGeom prst="rect">
            <a:avLst/>
          </a:prstGeom>
          <a:noFill/>
        </p:spPr>
        <p:txBody>
          <a:bodyPr wrap="square">
            <a:spAutoFit/>
          </a:bodyPr>
          <a:lstStyle/>
          <a:p>
            <a:pPr algn="l"/>
            <a:r>
              <a:rPr sz="1400" b="1" i="0">
                <a:solidFill>
                  <a:srgbClr val="6B2D8B"/>
                </a:solidFill>
              </a:rPr>
              <a:t>🔌  REST API</a:t>
            </a:r>
          </a:p>
        </p:txBody>
      </p:sp>
      <p:sp>
        <p:nvSpPr>
          <p:cNvPr id="18" name="Rectangle 17"/>
          <p:cNvSpPr/>
          <p:nvPr/>
        </p:nvSpPr>
        <p:spPr>
          <a:xfrm>
            <a:off x="8330184" y="2194560"/>
            <a:ext cx="333756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1624" y="2221992"/>
            <a:ext cx="3200400" cy="292608"/>
          </a:xfrm>
          <a:prstGeom prst="rect">
            <a:avLst/>
          </a:prstGeom>
          <a:noFill/>
        </p:spPr>
        <p:txBody>
          <a:bodyPr wrap="square">
            <a:spAutoFit/>
          </a:bodyPr>
          <a:lstStyle/>
          <a:p>
            <a:pPr algn="l"/>
            <a:r>
              <a:rPr sz="1100" b="1" i="0">
                <a:solidFill>
                  <a:srgbClr val="7BFF8B"/>
                </a:solidFill>
              </a:rPr>
              <a:t>POST /run  ·  GET /runs/{id}</a:t>
            </a:r>
          </a:p>
        </p:txBody>
      </p:sp>
      <p:sp>
        <p:nvSpPr>
          <p:cNvPr id="20" name="TextBox 19"/>
          <p:cNvSpPr txBox="1"/>
          <p:nvPr/>
        </p:nvSpPr>
        <p:spPr>
          <a:xfrm>
            <a:off x="8330184" y="2651760"/>
            <a:ext cx="3337560" cy="822960"/>
          </a:xfrm>
          <a:prstGeom prst="rect">
            <a:avLst/>
          </a:prstGeom>
          <a:noFill/>
        </p:spPr>
        <p:txBody>
          <a:bodyPr wrap="square">
            <a:spAutoFit/>
          </a:bodyPr>
          <a:lstStyle/>
          <a:p>
            <a:pPr algn="l"/>
            <a:r>
              <a:rPr sz="1100" b="0" i="0">
                <a:solidFill>
                  <a:srgbClr val="1A1A2E"/>
                </a:solidFill>
              </a:rPr>
              <a:t>Any system can trigger a run. Async response with run_id. Real-time status polling. CI/CD integration.</a:t>
            </a:r>
          </a:p>
        </p:txBody>
      </p:sp>
      <p:sp>
        <p:nvSpPr>
          <p:cNvPr id="21" name="Rectangle 20"/>
          <p:cNvSpPr/>
          <p:nvPr/>
        </p:nvSpPr>
        <p:spPr>
          <a:xfrm>
            <a:off x="2322576" y="3977639"/>
            <a:ext cx="3611880" cy="2011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59736" y="4069079"/>
            <a:ext cx="3291840" cy="411480"/>
          </a:xfrm>
          <a:prstGeom prst="rect">
            <a:avLst/>
          </a:prstGeom>
          <a:noFill/>
        </p:spPr>
        <p:txBody>
          <a:bodyPr wrap="square">
            <a:spAutoFit/>
          </a:bodyPr>
          <a:lstStyle/>
          <a:p>
            <a:pPr algn="l"/>
            <a:r>
              <a:rPr sz="1400" b="1" i="0">
                <a:solidFill>
                  <a:srgbClr val="6B2D8B"/>
                </a:solidFill>
              </a:rPr>
              <a:t>🖱  React Dashboard</a:t>
            </a:r>
          </a:p>
        </p:txBody>
      </p:sp>
      <p:sp>
        <p:nvSpPr>
          <p:cNvPr id="23" name="Rectangle 22"/>
          <p:cNvSpPr/>
          <p:nvPr/>
        </p:nvSpPr>
        <p:spPr>
          <a:xfrm>
            <a:off x="2459736" y="4526279"/>
            <a:ext cx="333756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51176" y="4553711"/>
            <a:ext cx="3200400" cy="292608"/>
          </a:xfrm>
          <a:prstGeom prst="rect">
            <a:avLst/>
          </a:prstGeom>
          <a:noFill/>
        </p:spPr>
        <p:txBody>
          <a:bodyPr wrap="square">
            <a:spAutoFit/>
          </a:bodyPr>
          <a:lstStyle/>
          <a:p>
            <a:pPr algn="l"/>
            <a:r>
              <a:rPr sz="1100" b="1" i="0">
                <a:solidFill>
                  <a:srgbClr val="7BFF8B"/>
                </a:solidFill>
              </a:rPr>
              <a:t>python main.py ui</a:t>
            </a:r>
          </a:p>
        </p:txBody>
      </p:sp>
      <p:sp>
        <p:nvSpPr>
          <p:cNvPr id="25" name="TextBox 24"/>
          <p:cNvSpPr txBox="1"/>
          <p:nvPr/>
        </p:nvSpPr>
        <p:spPr>
          <a:xfrm>
            <a:off x="2459736" y="4983479"/>
            <a:ext cx="3337560" cy="822960"/>
          </a:xfrm>
          <a:prstGeom prst="rect">
            <a:avLst/>
          </a:prstGeom>
          <a:noFill/>
        </p:spPr>
        <p:txBody>
          <a:bodyPr wrap="square">
            <a:spAutoFit/>
          </a:bodyPr>
          <a:lstStyle/>
          <a:p>
            <a:pPr algn="l"/>
            <a:r>
              <a:rPr sz="1100" b="0" i="0">
                <a:solidFill>
                  <a:srgbClr val="1A1A2E"/>
                </a:solidFill>
              </a:rPr>
              <a:t>Browser UI: run history, QA scores, published posts, engagement tracking, feedback collection.</a:t>
            </a:r>
          </a:p>
        </p:txBody>
      </p:sp>
      <p:sp>
        <p:nvSpPr>
          <p:cNvPr id="26" name="Rectangle 25"/>
          <p:cNvSpPr/>
          <p:nvPr/>
        </p:nvSpPr>
        <p:spPr>
          <a:xfrm>
            <a:off x="6236208" y="3977639"/>
            <a:ext cx="3611880" cy="2011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4069079"/>
            <a:ext cx="3291840" cy="411480"/>
          </a:xfrm>
          <a:prstGeom prst="rect">
            <a:avLst/>
          </a:prstGeom>
          <a:noFill/>
        </p:spPr>
        <p:txBody>
          <a:bodyPr wrap="square">
            <a:spAutoFit/>
          </a:bodyPr>
          <a:lstStyle/>
          <a:p>
            <a:pPr algn="l"/>
            <a:r>
              <a:rPr sz="1400" b="1" i="0">
                <a:solidFill>
                  <a:srgbClr val="6B2D8B"/>
                </a:solidFill>
              </a:rPr>
              <a:t>⌨️  CLI (this demo)</a:t>
            </a:r>
          </a:p>
        </p:txBody>
      </p:sp>
      <p:sp>
        <p:nvSpPr>
          <p:cNvPr id="28" name="Rectangle 27"/>
          <p:cNvSpPr/>
          <p:nvPr/>
        </p:nvSpPr>
        <p:spPr>
          <a:xfrm>
            <a:off x="6373368" y="4526279"/>
            <a:ext cx="3337560"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4553711"/>
            <a:ext cx="3200400" cy="292608"/>
          </a:xfrm>
          <a:prstGeom prst="rect">
            <a:avLst/>
          </a:prstGeom>
          <a:noFill/>
        </p:spPr>
        <p:txBody>
          <a:bodyPr wrap="square">
            <a:spAutoFit/>
          </a:bodyPr>
          <a:lstStyle/>
          <a:p>
            <a:pPr algn="l"/>
            <a:r>
              <a:rPr sz="1100" b="1" i="0">
                <a:solidFill>
                  <a:srgbClr val="7BFF8B"/>
                </a:solidFill>
              </a:rPr>
              <a:t>python main.py run</a:t>
            </a:r>
          </a:p>
        </p:txBody>
      </p:sp>
      <p:sp>
        <p:nvSpPr>
          <p:cNvPr id="30" name="TextBox 29"/>
          <p:cNvSpPr txBox="1"/>
          <p:nvPr/>
        </p:nvSpPr>
        <p:spPr>
          <a:xfrm>
            <a:off x="6373368" y="4983479"/>
            <a:ext cx="3337560" cy="822960"/>
          </a:xfrm>
          <a:prstGeom prst="rect">
            <a:avLst/>
          </a:prstGeom>
          <a:noFill/>
        </p:spPr>
        <p:txBody>
          <a:bodyPr wrap="square">
            <a:spAutoFit/>
          </a:bodyPr>
          <a:lstStyle/>
          <a:p>
            <a:pPr algn="l"/>
            <a:r>
              <a:rPr sz="1100" b="0" i="0">
                <a:solidFill>
                  <a:srgbClr val="1A1A2E"/>
                </a:solidFill>
              </a:rPr>
              <a:t>Single pipeline run with live progress bar. 2-3 minutes. Outputs saved to output/&lt;run_id&gt;/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Technology Stack</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16</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365760" y="1600200"/>
            <a:ext cx="2743200" cy="4114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45920"/>
            <a:ext cx="2743200" cy="347472"/>
          </a:xfrm>
          <a:prstGeom prst="rect">
            <a:avLst/>
          </a:prstGeom>
          <a:noFill/>
        </p:spPr>
        <p:txBody>
          <a:bodyPr wrap="square">
            <a:spAutoFit/>
          </a:bodyPr>
          <a:lstStyle/>
          <a:p>
            <a:pPr algn="ctr"/>
            <a:r>
              <a:rPr sz="1400" b="1" i="0">
                <a:solidFill>
                  <a:srgbClr val="FFFFFF"/>
                </a:solidFill>
              </a:rPr>
              <a:t>AI / LLM</a:t>
            </a:r>
          </a:p>
        </p:txBody>
      </p:sp>
      <p:sp>
        <p:nvSpPr>
          <p:cNvPr id="8" name="Rectangle 7"/>
          <p:cNvSpPr/>
          <p:nvPr/>
        </p:nvSpPr>
        <p:spPr>
          <a:xfrm>
            <a:off x="365760" y="214884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94560"/>
            <a:ext cx="2560320" cy="347472"/>
          </a:xfrm>
          <a:prstGeom prst="rect">
            <a:avLst/>
          </a:prstGeom>
          <a:noFill/>
        </p:spPr>
        <p:txBody>
          <a:bodyPr wrap="square">
            <a:spAutoFit/>
          </a:bodyPr>
          <a:lstStyle/>
          <a:p>
            <a:pPr algn="l"/>
            <a:r>
              <a:rPr sz="1300" b="1" i="0">
                <a:solidFill>
                  <a:srgbClr val="6B2D8B"/>
                </a:solidFill>
              </a:rPr>
              <a:t>Claude Opus 4.7</a:t>
            </a:r>
          </a:p>
        </p:txBody>
      </p:sp>
      <p:sp>
        <p:nvSpPr>
          <p:cNvPr id="10" name="TextBox 9"/>
          <p:cNvSpPr txBox="1"/>
          <p:nvPr/>
        </p:nvSpPr>
        <p:spPr>
          <a:xfrm>
            <a:off x="457200" y="2587752"/>
            <a:ext cx="2560320" cy="365760"/>
          </a:xfrm>
          <a:prstGeom prst="rect">
            <a:avLst/>
          </a:prstGeom>
          <a:noFill/>
        </p:spPr>
        <p:txBody>
          <a:bodyPr wrap="square">
            <a:spAutoFit/>
          </a:bodyPr>
          <a:lstStyle/>
          <a:p>
            <a:pPr algn="l"/>
            <a:r>
              <a:rPr sz="1000" b="0" i="0">
                <a:solidFill>
                  <a:srgbClr val="1A1A2E"/>
                </a:solidFill>
              </a:rPr>
              <a:t>Social creative, engagement prediction</a:t>
            </a:r>
          </a:p>
        </p:txBody>
      </p:sp>
      <p:sp>
        <p:nvSpPr>
          <p:cNvPr id="11" name="Rectangle 10"/>
          <p:cNvSpPr/>
          <p:nvPr/>
        </p:nvSpPr>
        <p:spPr>
          <a:xfrm>
            <a:off x="365760" y="315468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00400"/>
            <a:ext cx="2560320" cy="347472"/>
          </a:xfrm>
          <a:prstGeom prst="rect">
            <a:avLst/>
          </a:prstGeom>
          <a:noFill/>
        </p:spPr>
        <p:txBody>
          <a:bodyPr wrap="square">
            <a:spAutoFit/>
          </a:bodyPr>
          <a:lstStyle/>
          <a:p>
            <a:pPr algn="l"/>
            <a:r>
              <a:rPr sz="1300" b="1" i="0">
                <a:solidFill>
                  <a:srgbClr val="6B2D8B"/>
                </a:solidFill>
              </a:rPr>
              <a:t>Claude Sonnet 4.6</a:t>
            </a:r>
          </a:p>
        </p:txBody>
      </p:sp>
      <p:sp>
        <p:nvSpPr>
          <p:cNvPr id="13" name="TextBox 12"/>
          <p:cNvSpPr txBox="1"/>
          <p:nvPr/>
        </p:nvSpPr>
        <p:spPr>
          <a:xfrm>
            <a:off x="457200" y="3593592"/>
            <a:ext cx="2560320" cy="365760"/>
          </a:xfrm>
          <a:prstGeom prst="rect">
            <a:avLst/>
          </a:prstGeom>
          <a:noFill/>
        </p:spPr>
        <p:txBody>
          <a:bodyPr wrap="square">
            <a:spAutoFit/>
          </a:bodyPr>
          <a:lstStyle/>
          <a:p>
            <a:pPr algn="l"/>
            <a:r>
              <a:rPr sz="1000" b="0" i="0">
                <a:solidFill>
                  <a:srgbClr val="1A1A2E"/>
                </a:solidFill>
              </a:rPr>
              <a:t>Research, news creative, QA quality, platforms</a:t>
            </a:r>
          </a:p>
        </p:txBody>
      </p:sp>
      <p:sp>
        <p:nvSpPr>
          <p:cNvPr id="14" name="Rectangle 13"/>
          <p:cNvSpPr/>
          <p:nvPr/>
        </p:nvSpPr>
        <p:spPr>
          <a:xfrm>
            <a:off x="365760" y="416052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2560320" cy="347472"/>
          </a:xfrm>
          <a:prstGeom prst="rect">
            <a:avLst/>
          </a:prstGeom>
          <a:noFill/>
        </p:spPr>
        <p:txBody>
          <a:bodyPr wrap="square">
            <a:spAutoFit/>
          </a:bodyPr>
          <a:lstStyle/>
          <a:p>
            <a:pPr algn="l"/>
            <a:r>
              <a:rPr sz="1300" b="1" i="0">
                <a:solidFill>
                  <a:srgbClr val="6B2D8B"/>
                </a:solidFill>
              </a:rPr>
              <a:t>Gemini 2.5 Flash</a:t>
            </a:r>
          </a:p>
        </p:txBody>
      </p:sp>
      <p:sp>
        <p:nvSpPr>
          <p:cNvPr id="16" name="TextBox 15"/>
          <p:cNvSpPr txBox="1"/>
          <p:nvPr/>
        </p:nvSpPr>
        <p:spPr>
          <a:xfrm>
            <a:off x="457200" y="4599432"/>
            <a:ext cx="2560320" cy="365760"/>
          </a:xfrm>
          <a:prstGeom prst="rect">
            <a:avLst/>
          </a:prstGeom>
          <a:noFill/>
        </p:spPr>
        <p:txBody>
          <a:bodyPr wrap="square">
            <a:spAutoFit/>
          </a:bodyPr>
          <a:lstStyle/>
          <a:p>
            <a:pPr algn="l"/>
            <a:r>
              <a:rPr sz="1000" b="0" i="0">
                <a:solidFill>
                  <a:srgbClr val="1A1A2E"/>
                </a:solidFill>
              </a:rPr>
              <a:t>Planner, QA safety, extraction (53% cheaper)</a:t>
            </a:r>
          </a:p>
        </p:txBody>
      </p:sp>
      <p:sp>
        <p:nvSpPr>
          <p:cNvPr id="17" name="Rectangle 16"/>
          <p:cNvSpPr/>
          <p:nvPr/>
        </p:nvSpPr>
        <p:spPr>
          <a:xfrm>
            <a:off x="3310128" y="1600200"/>
            <a:ext cx="2743200" cy="4114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0128" y="1645920"/>
            <a:ext cx="2743200" cy="347472"/>
          </a:xfrm>
          <a:prstGeom prst="rect">
            <a:avLst/>
          </a:prstGeom>
          <a:noFill/>
        </p:spPr>
        <p:txBody>
          <a:bodyPr wrap="square">
            <a:spAutoFit/>
          </a:bodyPr>
          <a:lstStyle/>
          <a:p>
            <a:pPr algn="ctr"/>
            <a:r>
              <a:rPr sz="1400" b="1" i="0">
                <a:solidFill>
                  <a:srgbClr val="FFFFFF"/>
                </a:solidFill>
              </a:rPr>
              <a:t>Orchestration</a:t>
            </a:r>
          </a:p>
        </p:txBody>
      </p:sp>
      <p:sp>
        <p:nvSpPr>
          <p:cNvPr id="19" name="Rectangle 18"/>
          <p:cNvSpPr/>
          <p:nvPr/>
        </p:nvSpPr>
        <p:spPr>
          <a:xfrm>
            <a:off x="3310128" y="214884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2194560"/>
            <a:ext cx="2560320" cy="347472"/>
          </a:xfrm>
          <a:prstGeom prst="rect">
            <a:avLst/>
          </a:prstGeom>
          <a:noFill/>
        </p:spPr>
        <p:txBody>
          <a:bodyPr wrap="square">
            <a:spAutoFit/>
          </a:bodyPr>
          <a:lstStyle/>
          <a:p>
            <a:pPr algn="l"/>
            <a:r>
              <a:rPr sz="1300" b="1" i="0">
                <a:solidFill>
                  <a:srgbClr val="6B2D8B"/>
                </a:solidFill>
              </a:rPr>
              <a:t>LangGraph</a:t>
            </a:r>
          </a:p>
        </p:txBody>
      </p:sp>
      <p:sp>
        <p:nvSpPr>
          <p:cNvPr id="21" name="TextBox 20"/>
          <p:cNvSpPr txBox="1"/>
          <p:nvPr/>
        </p:nvSpPr>
        <p:spPr>
          <a:xfrm>
            <a:off x="3401568" y="2587752"/>
            <a:ext cx="2560320" cy="365760"/>
          </a:xfrm>
          <a:prstGeom prst="rect">
            <a:avLst/>
          </a:prstGeom>
          <a:noFill/>
        </p:spPr>
        <p:txBody>
          <a:bodyPr wrap="square">
            <a:spAutoFit/>
          </a:bodyPr>
          <a:lstStyle/>
          <a:p>
            <a:pPr algn="l"/>
            <a:r>
              <a:rPr sz="1000" b="0" i="0">
                <a:solidFill>
                  <a:srgbClr val="1A1A2E"/>
                </a:solidFill>
              </a:rPr>
              <a:t>Stateful multi-agent graph, parallel fan-out/in</a:t>
            </a:r>
          </a:p>
        </p:txBody>
      </p:sp>
      <p:sp>
        <p:nvSpPr>
          <p:cNvPr id="22" name="Rectangle 21"/>
          <p:cNvSpPr/>
          <p:nvPr/>
        </p:nvSpPr>
        <p:spPr>
          <a:xfrm>
            <a:off x="3310128" y="315468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1568" y="3200400"/>
            <a:ext cx="2560320" cy="347472"/>
          </a:xfrm>
          <a:prstGeom prst="rect">
            <a:avLst/>
          </a:prstGeom>
          <a:noFill/>
        </p:spPr>
        <p:txBody>
          <a:bodyPr wrap="square">
            <a:spAutoFit/>
          </a:bodyPr>
          <a:lstStyle/>
          <a:p>
            <a:pPr algn="l"/>
            <a:r>
              <a:rPr sz="1300" b="1" i="0">
                <a:solidFill>
                  <a:srgbClr val="6B2D8B"/>
                </a:solidFill>
              </a:rPr>
              <a:t>AsyncSqliteSaver</a:t>
            </a:r>
          </a:p>
        </p:txBody>
      </p:sp>
      <p:sp>
        <p:nvSpPr>
          <p:cNvPr id="24" name="TextBox 23"/>
          <p:cNvSpPr txBox="1"/>
          <p:nvPr/>
        </p:nvSpPr>
        <p:spPr>
          <a:xfrm>
            <a:off x="3401568" y="3593592"/>
            <a:ext cx="2560320" cy="365760"/>
          </a:xfrm>
          <a:prstGeom prst="rect">
            <a:avLst/>
          </a:prstGeom>
          <a:noFill/>
        </p:spPr>
        <p:txBody>
          <a:bodyPr wrap="square">
            <a:spAutoFit/>
          </a:bodyPr>
          <a:lstStyle/>
          <a:p>
            <a:pPr algn="l"/>
            <a:r>
              <a:rPr sz="1000" b="0" i="0">
                <a:solidFill>
                  <a:srgbClr val="1A1A2E"/>
                </a:solidFill>
              </a:rPr>
              <a:t>Checkpointing — crash-resumable runs</a:t>
            </a:r>
          </a:p>
        </p:txBody>
      </p:sp>
      <p:sp>
        <p:nvSpPr>
          <p:cNvPr id="25" name="Rectangle 24"/>
          <p:cNvSpPr/>
          <p:nvPr/>
        </p:nvSpPr>
        <p:spPr>
          <a:xfrm>
            <a:off x="3310128" y="416052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01568" y="4206240"/>
            <a:ext cx="2560320" cy="347472"/>
          </a:xfrm>
          <a:prstGeom prst="rect">
            <a:avLst/>
          </a:prstGeom>
          <a:noFill/>
        </p:spPr>
        <p:txBody>
          <a:bodyPr wrap="square">
            <a:spAutoFit/>
          </a:bodyPr>
          <a:lstStyle/>
          <a:p>
            <a:pPr algn="l"/>
            <a:r>
              <a:rPr sz="1300" b="1" i="0">
                <a:solidFill>
                  <a:srgbClr val="6B2D8B"/>
                </a:solidFill>
              </a:rPr>
              <a:t>RetryPolicy</a:t>
            </a:r>
          </a:p>
        </p:txBody>
      </p:sp>
      <p:sp>
        <p:nvSpPr>
          <p:cNvPr id="27" name="TextBox 26"/>
          <p:cNvSpPr txBox="1"/>
          <p:nvPr/>
        </p:nvSpPr>
        <p:spPr>
          <a:xfrm>
            <a:off x="3401568" y="4599432"/>
            <a:ext cx="2560320" cy="365760"/>
          </a:xfrm>
          <a:prstGeom prst="rect">
            <a:avLst/>
          </a:prstGeom>
          <a:noFill/>
        </p:spPr>
        <p:txBody>
          <a:bodyPr wrap="square">
            <a:spAutoFit/>
          </a:bodyPr>
          <a:lstStyle/>
          <a:p>
            <a:pPr algn="l"/>
            <a:r>
              <a:rPr sz="1000" b="0" i="0">
                <a:solidFill>
                  <a:srgbClr val="1A1A2E"/>
                </a:solidFill>
              </a:rPr>
              <a:t>Exponential backoff on all non-publisher nodes</a:t>
            </a:r>
          </a:p>
        </p:txBody>
      </p:sp>
      <p:sp>
        <p:nvSpPr>
          <p:cNvPr id="28" name="Rectangle 27"/>
          <p:cNvSpPr/>
          <p:nvPr/>
        </p:nvSpPr>
        <p:spPr>
          <a:xfrm>
            <a:off x="6254496" y="1600200"/>
            <a:ext cx="2743200" cy="4114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54496" y="1645920"/>
            <a:ext cx="2743200" cy="347472"/>
          </a:xfrm>
          <a:prstGeom prst="rect">
            <a:avLst/>
          </a:prstGeom>
          <a:noFill/>
        </p:spPr>
        <p:txBody>
          <a:bodyPr wrap="square">
            <a:spAutoFit/>
          </a:bodyPr>
          <a:lstStyle/>
          <a:p>
            <a:pPr algn="ctr"/>
            <a:r>
              <a:rPr sz="1400" b="1" i="0">
                <a:solidFill>
                  <a:srgbClr val="FFFFFF"/>
                </a:solidFill>
              </a:rPr>
              <a:t>Data &amp; Tools</a:t>
            </a:r>
          </a:p>
        </p:txBody>
      </p:sp>
      <p:sp>
        <p:nvSpPr>
          <p:cNvPr id="30" name="Rectangle 29"/>
          <p:cNvSpPr/>
          <p:nvPr/>
        </p:nvSpPr>
        <p:spPr>
          <a:xfrm>
            <a:off x="6254496" y="214884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45936" y="2194560"/>
            <a:ext cx="2560320" cy="347472"/>
          </a:xfrm>
          <a:prstGeom prst="rect">
            <a:avLst/>
          </a:prstGeom>
          <a:noFill/>
        </p:spPr>
        <p:txBody>
          <a:bodyPr wrap="square">
            <a:spAutoFit/>
          </a:bodyPr>
          <a:lstStyle/>
          <a:p>
            <a:pPr algn="l"/>
            <a:r>
              <a:rPr sz="1300" b="1" i="0">
                <a:solidFill>
                  <a:srgbClr val="6B2D8B"/>
                </a:solidFill>
              </a:rPr>
              <a:t>Tavily + Serper</a:t>
            </a:r>
          </a:p>
        </p:txBody>
      </p:sp>
      <p:sp>
        <p:nvSpPr>
          <p:cNvPr id="32" name="TextBox 31"/>
          <p:cNvSpPr txBox="1"/>
          <p:nvPr/>
        </p:nvSpPr>
        <p:spPr>
          <a:xfrm>
            <a:off x="6345936" y="2587752"/>
            <a:ext cx="2560320" cy="365760"/>
          </a:xfrm>
          <a:prstGeom prst="rect">
            <a:avLst/>
          </a:prstGeom>
          <a:noFill/>
        </p:spPr>
        <p:txBody>
          <a:bodyPr wrap="square">
            <a:spAutoFit/>
          </a:bodyPr>
          <a:lstStyle/>
          <a:p>
            <a:pPr algn="l"/>
            <a:r>
              <a:rPr sz="1000" b="0" i="0">
                <a:solidFill>
                  <a:srgbClr val="1A1A2E"/>
                </a:solidFill>
              </a:rPr>
              <a:t>Real-time web search across 12 RE domains</a:t>
            </a:r>
          </a:p>
        </p:txBody>
      </p:sp>
      <p:sp>
        <p:nvSpPr>
          <p:cNvPr id="33" name="Rectangle 32"/>
          <p:cNvSpPr/>
          <p:nvPr/>
        </p:nvSpPr>
        <p:spPr>
          <a:xfrm>
            <a:off x="6254496" y="315468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3200400"/>
            <a:ext cx="2560320" cy="347472"/>
          </a:xfrm>
          <a:prstGeom prst="rect">
            <a:avLst/>
          </a:prstGeom>
          <a:noFill/>
        </p:spPr>
        <p:txBody>
          <a:bodyPr wrap="square">
            <a:spAutoFit/>
          </a:bodyPr>
          <a:lstStyle/>
          <a:p>
            <a:pPr algn="l"/>
            <a:r>
              <a:rPr sz="1300" b="1" i="0">
                <a:solidFill>
                  <a:srgbClr val="6B2D8B"/>
                </a:solidFill>
              </a:rPr>
              <a:t>Google Trends + Reddit</a:t>
            </a:r>
          </a:p>
        </p:txBody>
      </p:sp>
      <p:sp>
        <p:nvSpPr>
          <p:cNvPr id="35" name="TextBox 34"/>
          <p:cNvSpPr txBox="1"/>
          <p:nvPr/>
        </p:nvSpPr>
        <p:spPr>
          <a:xfrm>
            <a:off x="6345936" y="3593592"/>
            <a:ext cx="2560320" cy="365760"/>
          </a:xfrm>
          <a:prstGeom prst="rect">
            <a:avLst/>
          </a:prstGeom>
          <a:noFill/>
        </p:spPr>
        <p:txBody>
          <a:bodyPr wrap="square">
            <a:spAutoFit/>
          </a:bodyPr>
          <a:lstStyle/>
          <a:p>
            <a:pPr algn="l"/>
            <a:r>
              <a:rPr sz="1000" b="0" i="0">
                <a:solidFill>
                  <a:srgbClr val="1A1A2E"/>
                </a:solidFill>
              </a:rPr>
              <a:t>Social trend aggregation (4 sources)</a:t>
            </a:r>
          </a:p>
        </p:txBody>
      </p:sp>
      <p:sp>
        <p:nvSpPr>
          <p:cNvPr id="36" name="Rectangle 35"/>
          <p:cNvSpPr/>
          <p:nvPr/>
        </p:nvSpPr>
        <p:spPr>
          <a:xfrm>
            <a:off x="6254496" y="416052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4206240"/>
            <a:ext cx="2560320" cy="347472"/>
          </a:xfrm>
          <a:prstGeom prst="rect">
            <a:avLst/>
          </a:prstGeom>
          <a:noFill/>
        </p:spPr>
        <p:txBody>
          <a:bodyPr wrap="square">
            <a:spAutoFit/>
          </a:bodyPr>
          <a:lstStyle/>
          <a:p>
            <a:pPr algn="l"/>
            <a:r>
              <a:rPr sz="1300" b="1" i="0">
                <a:solidFill>
                  <a:srgbClr val="6B2D8B"/>
                </a:solidFill>
              </a:rPr>
              <a:t>SQLite + SQLAlchemy</a:t>
            </a:r>
          </a:p>
        </p:txBody>
      </p:sp>
      <p:sp>
        <p:nvSpPr>
          <p:cNvPr id="38" name="TextBox 37"/>
          <p:cNvSpPr txBox="1"/>
          <p:nvPr/>
        </p:nvSpPr>
        <p:spPr>
          <a:xfrm>
            <a:off x="6345936" y="4599432"/>
            <a:ext cx="2560320" cy="365760"/>
          </a:xfrm>
          <a:prstGeom prst="rect">
            <a:avLst/>
          </a:prstGeom>
          <a:noFill/>
        </p:spPr>
        <p:txBody>
          <a:bodyPr wrap="square">
            <a:spAutoFit/>
          </a:bodyPr>
          <a:lstStyle/>
          <a:p>
            <a:pPr algn="l"/>
            <a:r>
              <a:rPr sz="1000" b="0" i="0">
                <a:solidFill>
                  <a:srgbClr val="1A1A2E"/>
                </a:solidFill>
              </a:rPr>
              <a:t>Post storage, QA history, engagement tracking</a:t>
            </a:r>
          </a:p>
        </p:txBody>
      </p:sp>
      <p:sp>
        <p:nvSpPr>
          <p:cNvPr id="39" name="Rectangle 38"/>
          <p:cNvSpPr/>
          <p:nvPr/>
        </p:nvSpPr>
        <p:spPr>
          <a:xfrm>
            <a:off x="9198864" y="1600200"/>
            <a:ext cx="2743200" cy="41148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98864" y="1645920"/>
            <a:ext cx="2743200" cy="347472"/>
          </a:xfrm>
          <a:prstGeom prst="rect">
            <a:avLst/>
          </a:prstGeom>
          <a:noFill/>
        </p:spPr>
        <p:txBody>
          <a:bodyPr wrap="square">
            <a:spAutoFit/>
          </a:bodyPr>
          <a:lstStyle/>
          <a:p>
            <a:pPr algn="ctr"/>
            <a:r>
              <a:rPr sz="1400" b="1" i="0">
                <a:solidFill>
                  <a:srgbClr val="FFFFFF"/>
                </a:solidFill>
              </a:rPr>
              <a:t>Infrastructure</a:t>
            </a:r>
          </a:p>
        </p:txBody>
      </p:sp>
      <p:sp>
        <p:nvSpPr>
          <p:cNvPr id="41" name="Rectangle 40"/>
          <p:cNvSpPr/>
          <p:nvPr/>
        </p:nvSpPr>
        <p:spPr>
          <a:xfrm>
            <a:off x="9198864" y="214884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90304" y="2194560"/>
            <a:ext cx="2560320" cy="347472"/>
          </a:xfrm>
          <a:prstGeom prst="rect">
            <a:avLst/>
          </a:prstGeom>
          <a:noFill/>
        </p:spPr>
        <p:txBody>
          <a:bodyPr wrap="square">
            <a:spAutoFit/>
          </a:bodyPr>
          <a:lstStyle/>
          <a:p>
            <a:pPr algn="l"/>
            <a:r>
              <a:rPr sz="1300" b="1" i="0">
                <a:solidFill>
                  <a:srgbClr val="6B2D8B"/>
                </a:solidFill>
              </a:rPr>
              <a:t>FastAPI</a:t>
            </a:r>
          </a:p>
        </p:txBody>
      </p:sp>
      <p:sp>
        <p:nvSpPr>
          <p:cNvPr id="43" name="TextBox 42"/>
          <p:cNvSpPr txBox="1"/>
          <p:nvPr/>
        </p:nvSpPr>
        <p:spPr>
          <a:xfrm>
            <a:off x="9290304" y="2587752"/>
            <a:ext cx="2560320" cy="365760"/>
          </a:xfrm>
          <a:prstGeom prst="rect">
            <a:avLst/>
          </a:prstGeom>
          <a:noFill/>
        </p:spPr>
        <p:txBody>
          <a:bodyPr wrap="square">
            <a:spAutoFit/>
          </a:bodyPr>
          <a:lstStyle/>
          <a:p>
            <a:pPr algn="l"/>
            <a:r>
              <a:rPr sz="1000" b="0" i="0">
                <a:solidFill>
                  <a:srgbClr val="1A1A2E"/>
                </a:solidFill>
              </a:rPr>
              <a:t>REST API + async run management</a:t>
            </a:r>
          </a:p>
        </p:txBody>
      </p:sp>
      <p:sp>
        <p:nvSpPr>
          <p:cNvPr id="44" name="Rectangle 43"/>
          <p:cNvSpPr/>
          <p:nvPr/>
        </p:nvSpPr>
        <p:spPr>
          <a:xfrm>
            <a:off x="9198864" y="315468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90304" y="3200400"/>
            <a:ext cx="2560320" cy="347472"/>
          </a:xfrm>
          <a:prstGeom prst="rect">
            <a:avLst/>
          </a:prstGeom>
          <a:noFill/>
        </p:spPr>
        <p:txBody>
          <a:bodyPr wrap="square">
            <a:spAutoFit/>
          </a:bodyPr>
          <a:lstStyle/>
          <a:p>
            <a:pPr algn="l"/>
            <a:r>
              <a:rPr sz="1300" b="1" i="0">
                <a:solidFill>
                  <a:srgbClr val="6B2D8B"/>
                </a:solidFill>
              </a:rPr>
              <a:t>APScheduler</a:t>
            </a:r>
          </a:p>
        </p:txBody>
      </p:sp>
      <p:sp>
        <p:nvSpPr>
          <p:cNvPr id="46" name="TextBox 45"/>
          <p:cNvSpPr txBox="1"/>
          <p:nvPr/>
        </p:nvSpPr>
        <p:spPr>
          <a:xfrm>
            <a:off x="9290304" y="3593592"/>
            <a:ext cx="2560320" cy="365760"/>
          </a:xfrm>
          <a:prstGeom prst="rect">
            <a:avLst/>
          </a:prstGeom>
          <a:noFill/>
        </p:spPr>
        <p:txBody>
          <a:bodyPr wrap="square">
            <a:spAutoFit/>
          </a:bodyPr>
          <a:lstStyle/>
          <a:p>
            <a:pPr algn="l"/>
            <a:r>
              <a:rPr sz="1000" b="0" i="0">
                <a:solidFill>
                  <a:srgbClr val="1A1A2E"/>
                </a:solidFill>
              </a:rPr>
              <a:t>Cron-style scheduling (9 AM + 6 PM IST)</a:t>
            </a:r>
          </a:p>
        </p:txBody>
      </p:sp>
      <p:sp>
        <p:nvSpPr>
          <p:cNvPr id="47" name="Rectangle 46"/>
          <p:cNvSpPr/>
          <p:nvPr/>
        </p:nvSpPr>
        <p:spPr>
          <a:xfrm>
            <a:off x="9198864" y="416052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90304" y="4206240"/>
            <a:ext cx="2560320" cy="347472"/>
          </a:xfrm>
          <a:prstGeom prst="rect">
            <a:avLst/>
          </a:prstGeom>
          <a:noFill/>
        </p:spPr>
        <p:txBody>
          <a:bodyPr wrap="square">
            <a:spAutoFit/>
          </a:bodyPr>
          <a:lstStyle/>
          <a:p>
            <a:pPr algn="l"/>
            <a:r>
              <a:rPr sz="1300" b="1" i="0">
                <a:solidFill>
                  <a:srgbClr val="6B2D8B"/>
                </a:solidFill>
              </a:rPr>
              <a:t>React + Vite</a:t>
            </a:r>
          </a:p>
        </p:txBody>
      </p:sp>
      <p:sp>
        <p:nvSpPr>
          <p:cNvPr id="49" name="TextBox 48"/>
          <p:cNvSpPr txBox="1"/>
          <p:nvPr/>
        </p:nvSpPr>
        <p:spPr>
          <a:xfrm>
            <a:off x="9290304" y="4599432"/>
            <a:ext cx="2560320" cy="365760"/>
          </a:xfrm>
          <a:prstGeom prst="rect">
            <a:avLst/>
          </a:prstGeom>
          <a:noFill/>
        </p:spPr>
        <p:txBody>
          <a:bodyPr wrap="square">
            <a:spAutoFit/>
          </a:bodyPr>
          <a:lstStyle/>
          <a:p>
            <a:pPr algn="l"/>
            <a:r>
              <a:rPr sz="1000" b="0" i="0">
                <a:solidFill>
                  <a:srgbClr val="1A1A2E"/>
                </a:solidFill>
              </a:rPr>
              <a:t>Real-time dashboard UI</a:t>
            </a:r>
          </a:p>
        </p:txBody>
      </p:sp>
      <p:sp>
        <p:nvSpPr>
          <p:cNvPr id="50" name="Rectangle 49"/>
          <p:cNvSpPr/>
          <p:nvPr/>
        </p:nvSpPr>
        <p:spPr>
          <a:xfrm>
            <a:off x="9198864" y="5166360"/>
            <a:ext cx="2743200" cy="868680"/>
          </a:xfrm>
          <a:prstGeom prst="rect">
            <a:avLst/>
          </a:prstGeom>
          <a:solidFill>
            <a:srgbClr val="F5F5F5"/>
          </a:solidFill>
          <a:ln w="6350">
            <a:solidFill>
              <a:srgbClr val="CCBB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90304" y="5212080"/>
            <a:ext cx="2560320" cy="347472"/>
          </a:xfrm>
          <a:prstGeom prst="rect">
            <a:avLst/>
          </a:prstGeom>
          <a:noFill/>
        </p:spPr>
        <p:txBody>
          <a:bodyPr wrap="square">
            <a:spAutoFit/>
          </a:bodyPr>
          <a:lstStyle/>
          <a:p>
            <a:pPr algn="l"/>
            <a:r>
              <a:rPr sz="1300" b="1" i="0">
                <a:solidFill>
                  <a:srgbClr val="6B2D8B"/>
                </a:solidFill>
              </a:rPr>
              <a:t>PIL (Pillow)</a:t>
            </a:r>
          </a:p>
        </p:txBody>
      </p:sp>
      <p:sp>
        <p:nvSpPr>
          <p:cNvPr id="52" name="TextBox 51"/>
          <p:cNvSpPr txBox="1"/>
          <p:nvPr/>
        </p:nvSpPr>
        <p:spPr>
          <a:xfrm>
            <a:off x="9290304" y="5605272"/>
            <a:ext cx="2560320" cy="365760"/>
          </a:xfrm>
          <a:prstGeom prst="rect">
            <a:avLst/>
          </a:prstGeom>
          <a:noFill/>
        </p:spPr>
        <p:txBody>
          <a:bodyPr wrap="square">
            <a:spAutoFit/>
          </a:bodyPr>
          <a:lstStyle/>
          <a:p>
            <a:pPr algn="l"/>
            <a:r>
              <a:rPr sz="1000" b="0" i="0">
                <a:solidFill>
                  <a:srgbClr val="1A1A2E"/>
                </a:solidFill>
              </a:rPr>
              <a:t>1080×1080 branded card generation (no DALL-E cost)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Case Study: RERA Crackdown → 5 Platform Posts in 97 Seconds</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17</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365760" y="1508760"/>
            <a:ext cx="5943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94360" cy="502920"/>
          </a:xfrm>
          <a:prstGeom prst="rect">
            <a:avLst/>
          </a:prstGeom>
          <a:noFill/>
        </p:spPr>
        <p:txBody>
          <a:bodyPr wrap="square">
            <a:spAutoFit/>
          </a:bodyPr>
          <a:lstStyle/>
          <a:p>
            <a:pPr algn="ctr"/>
            <a:r>
              <a:rPr sz="1200" b="1" i="0">
                <a:solidFill>
                  <a:srgbClr val="FFFFFF"/>
                </a:solidFill>
              </a:rPr>
              <a:t>0s</a:t>
            </a:r>
          </a:p>
        </p:txBody>
      </p:sp>
      <p:sp>
        <p:nvSpPr>
          <p:cNvPr id="8" name="TextBox 7"/>
          <p:cNvSpPr txBox="1"/>
          <p:nvPr/>
        </p:nvSpPr>
        <p:spPr>
          <a:xfrm>
            <a:off x="1051560" y="1527048"/>
            <a:ext cx="1920240" cy="411480"/>
          </a:xfrm>
          <a:prstGeom prst="rect">
            <a:avLst/>
          </a:prstGeom>
          <a:noFill/>
        </p:spPr>
        <p:txBody>
          <a:bodyPr wrap="square">
            <a:spAutoFit/>
          </a:bodyPr>
          <a:lstStyle/>
          <a:p>
            <a:pPr algn="l"/>
            <a:r>
              <a:rPr sz="1100" b="1" i="0">
                <a:solidFill>
                  <a:srgbClr val="6B2D8B"/>
                </a:solidFill>
              </a:rPr>
              <a:t>researcher_node</a:t>
            </a:r>
          </a:p>
        </p:txBody>
      </p:sp>
      <p:sp>
        <p:nvSpPr>
          <p:cNvPr id="9" name="TextBox 8"/>
          <p:cNvSpPr txBox="1"/>
          <p:nvPr/>
        </p:nvSpPr>
        <p:spPr>
          <a:xfrm>
            <a:off x="3108960" y="1527048"/>
            <a:ext cx="8686800" cy="457200"/>
          </a:xfrm>
          <a:prstGeom prst="rect">
            <a:avLst/>
          </a:prstGeom>
          <a:noFill/>
        </p:spPr>
        <p:txBody>
          <a:bodyPr wrap="square">
            <a:spAutoFit/>
          </a:bodyPr>
          <a:lstStyle/>
          <a:p>
            <a:pPr algn="l"/>
            <a:r>
              <a:rPr sz="1100" b="0" i="0">
                <a:solidFill>
                  <a:srgbClr val="1A1A2E"/>
                </a:solidFill>
              </a:rPr>
              <a:t>Tavily fetches 8 RE news stories
+ 5 RERA-specific articles (Sonnet 4.6)</a:t>
            </a:r>
          </a:p>
        </p:txBody>
      </p:sp>
      <p:sp>
        <p:nvSpPr>
          <p:cNvPr id="10" name="Rectangle 9"/>
          <p:cNvSpPr/>
          <p:nvPr/>
        </p:nvSpPr>
        <p:spPr>
          <a:xfrm>
            <a:off x="566928" y="2011680"/>
            <a:ext cx="109728" cy="10972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03120"/>
            <a:ext cx="5943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103120"/>
            <a:ext cx="594360" cy="502920"/>
          </a:xfrm>
          <a:prstGeom prst="rect">
            <a:avLst/>
          </a:prstGeom>
          <a:noFill/>
        </p:spPr>
        <p:txBody>
          <a:bodyPr wrap="square">
            <a:spAutoFit/>
          </a:bodyPr>
          <a:lstStyle/>
          <a:p>
            <a:pPr algn="ctr"/>
            <a:r>
              <a:rPr sz="1200" b="1" i="0">
                <a:solidFill>
                  <a:srgbClr val="FFFFFF"/>
                </a:solidFill>
              </a:rPr>
              <a:t>8s</a:t>
            </a:r>
          </a:p>
        </p:txBody>
      </p:sp>
      <p:sp>
        <p:nvSpPr>
          <p:cNvPr id="13" name="TextBox 12"/>
          <p:cNvSpPr txBox="1"/>
          <p:nvPr/>
        </p:nvSpPr>
        <p:spPr>
          <a:xfrm>
            <a:off x="1051560" y="2121408"/>
            <a:ext cx="1920240" cy="411480"/>
          </a:xfrm>
          <a:prstGeom prst="rect">
            <a:avLst/>
          </a:prstGeom>
          <a:noFill/>
        </p:spPr>
        <p:txBody>
          <a:bodyPr wrap="square">
            <a:spAutoFit/>
          </a:bodyPr>
          <a:lstStyle/>
          <a:p>
            <a:pPr algn="l"/>
            <a:r>
              <a:rPr sz="1100" b="1" i="0">
                <a:solidFill>
                  <a:srgbClr val="6B2D8B"/>
                </a:solidFill>
              </a:rPr>
              <a:t>trend_researcher</a:t>
            </a:r>
          </a:p>
        </p:txBody>
      </p:sp>
      <p:sp>
        <p:nvSpPr>
          <p:cNvPr id="14" name="TextBox 13"/>
          <p:cNvSpPr txBox="1"/>
          <p:nvPr/>
        </p:nvSpPr>
        <p:spPr>
          <a:xfrm>
            <a:off x="3108960" y="2121408"/>
            <a:ext cx="8686800" cy="457200"/>
          </a:xfrm>
          <a:prstGeom prst="rect">
            <a:avLst/>
          </a:prstGeom>
          <a:noFill/>
        </p:spPr>
        <p:txBody>
          <a:bodyPr wrap="square">
            <a:spAutoFit/>
          </a:bodyPr>
          <a:lstStyle/>
          <a:p>
            <a:pPr algn="l"/>
            <a:r>
              <a:rPr sz="1100" b="0" i="0">
                <a:solidFill>
                  <a:srgbClr val="1A1A2E"/>
                </a:solidFill>
              </a:rPr>
              <a:t>Google Trends: #RERA trending
+ 15 total trend items with Hinglish hooks</a:t>
            </a:r>
          </a:p>
        </p:txBody>
      </p:sp>
      <p:sp>
        <p:nvSpPr>
          <p:cNvPr id="15" name="Rectangle 14"/>
          <p:cNvSpPr/>
          <p:nvPr/>
        </p:nvSpPr>
        <p:spPr>
          <a:xfrm>
            <a:off x="566928" y="2606040"/>
            <a:ext cx="109728" cy="10972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697480"/>
            <a:ext cx="59436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697480"/>
            <a:ext cx="594360" cy="502920"/>
          </a:xfrm>
          <a:prstGeom prst="rect">
            <a:avLst/>
          </a:prstGeom>
          <a:noFill/>
        </p:spPr>
        <p:txBody>
          <a:bodyPr wrap="square">
            <a:spAutoFit/>
          </a:bodyPr>
          <a:lstStyle/>
          <a:p>
            <a:pPr algn="ctr"/>
            <a:r>
              <a:rPr sz="1200" b="1" i="0">
                <a:solidFill>
                  <a:srgbClr val="FFFFFF"/>
                </a:solidFill>
              </a:rPr>
              <a:t>19s</a:t>
            </a:r>
          </a:p>
        </p:txBody>
      </p:sp>
      <p:sp>
        <p:nvSpPr>
          <p:cNvPr id="18" name="TextBox 17"/>
          <p:cNvSpPr txBox="1"/>
          <p:nvPr/>
        </p:nvSpPr>
        <p:spPr>
          <a:xfrm>
            <a:off x="1051560" y="2715768"/>
            <a:ext cx="1920240" cy="411480"/>
          </a:xfrm>
          <a:prstGeom prst="rect">
            <a:avLst/>
          </a:prstGeom>
          <a:noFill/>
        </p:spPr>
        <p:txBody>
          <a:bodyPr wrap="square">
            <a:spAutoFit/>
          </a:bodyPr>
          <a:lstStyle/>
          <a:p>
            <a:pPr algn="l"/>
            <a:r>
              <a:rPr sz="1100" b="1" i="0">
                <a:solidFill>
                  <a:srgbClr val="6B2D8B"/>
                </a:solidFill>
              </a:rPr>
              <a:t>planner_node</a:t>
            </a:r>
          </a:p>
        </p:txBody>
      </p:sp>
      <p:sp>
        <p:nvSpPr>
          <p:cNvPr id="19" name="TextBox 18"/>
          <p:cNvSpPr txBox="1"/>
          <p:nvPr/>
        </p:nvSpPr>
        <p:spPr>
          <a:xfrm>
            <a:off x="3108960" y="2715768"/>
            <a:ext cx="8686800" cy="457200"/>
          </a:xfrm>
          <a:prstGeom prst="rect">
            <a:avLst/>
          </a:prstGeom>
          <a:noFill/>
        </p:spPr>
        <p:txBody>
          <a:bodyPr wrap="square">
            <a:spAutoFit/>
          </a:bodyPr>
          <a:lstStyle/>
          <a:p>
            <a:pPr algn="l"/>
            <a:r>
              <a:rPr sz="1100" b="0" i="0">
                <a:solidFill>
                  <a:srgbClr val="1A1A2E"/>
                </a:solidFill>
              </a:rPr>
              <a:t>RERA story → 2 briefs: social (Hinglish urgency)
+ news (SEO buyer guide)</a:t>
            </a:r>
          </a:p>
        </p:txBody>
      </p:sp>
      <p:sp>
        <p:nvSpPr>
          <p:cNvPr id="20" name="Rectangle 19"/>
          <p:cNvSpPr/>
          <p:nvPr/>
        </p:nvSpPr>
        <p:spPr>
          <a:xfrm>
            <a:off x="566928" y="3200400"/>
            <a:ext cx="109728"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3291840"/>
            <a:ext cx="5943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291840"/>
            <a:ext cx="594360" cy="502920"/>
          </a:xfrm>
          <a:prstGeom prst="rect">
            <a:avLst/>
          </a:prstGeom>
          <a:noFill/>
        </p:spPr>
        <p:txBody>
          <a:bodyPr wrap="square">
            <a:spAutoFit/>
          </a:bodyPr>
          <a:lstStyle/>
          <a:p>
            <a:pPr algn="ctr"/>
            <a:r>
              <a:rPr sz="1200" b="1" i="0">
                <a:solidFill>
                  <a:srgbClr val="FFFFFF"/>
                </a:solidFill>
              </a:rPr>
              <a:t>27s</a:t>
            </a:r>
          </a:p>
        </p:txBody>
      </p:sp>
      <p:sp>
        <p:nvSpPr>
          <p:cNvPr id="23" name="TextBox 22"/>
          <p:cNvSpPr txBox="1"/>
          <p:nvPr/>
        </p:nvSpPr>
        <p:spPr>
          <a:xfrm>
            <a:off x="1051560" y="3310128"/>
            <a:ext cx="1920240" cy="411480"/>
          </a:xfrm>
          <a:prstGeom prst="rect">
            <a:avLst/>
          </a:prstGeom>
          <a:noFill/>
        </p:spPr>
        <p:txBody>
          <a:bodyPr wrap="square">
            <a:spAutoFit/>
          </a:bodyPr>
          <a:lstStyle/>
          <a:p>
            <a:pPr algn="l"/>
            <a:r>
              <a:rPr sz="1100" b="1" i="0">
                <a:solidFill>
                  <a:srgbClr val="6B2D8B"/>
                </a:solidFill>
              </a:rPr>
              <a:t>social_creative</a:t>
            </a:r>
          </a:p>
        </p:txBody>
      </p:sp>
      <p:sp>
        <p:nvSpPr>
          <p:cNvPr id="24" name="TextBox 23"/>
          <p:cNvSpPr txBox="1"/>
          <p:nvPr/>
        </p:nvSpPr>
        <p:spPr>
          <a:xfrm>
            <a:off x="3108960" y="3310128"/>
            <a:ext cx="8686800" cy="457200"/>
          </a:xfrm>
          <a:prstGeom prst="rect">
            <a:avLst/>
          </a:prstGeom>
          <a:noFill/>
        </p:spPr>
        <p:txBody>
          <a:bodyPr wrap="square">
            <a:spAutoFit/>
          </a:bodyPr>
          <a:lstStyle/>
          <a:p>
            <a:pPr algn="l"/>
            <a:r>
              <a:rPr sz="1100" b="0" i="0">
                <a:solidFill>
                  <a:srgbClr val="1A1A2E"/>
                </a:solidFill>
              </a:rPr>
              <a:t>Opus 4.7: 'Is your dream home on this list?'
Zomato-style urgency hook</a:t>
            </a:r>
          </a:p>
        </p:txBody>
      </p:sp>
      <p:sp>
        <p:nvSpPr>
          <p:cNvPr id="25" name="Rectangle 24"/>
          <p:cNvSpPr/>
          <p:nvPr/>
        </p:nvSpPr>
        <p:spPr>
          <a:xfrm>
            <a:off x="566928" y="3794760"/>
            <a:ext cx="109728" cy="10972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886200"/>
            <a:ext cx="5943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886200"/>
            <a:ext cx="594360" cy="502920"/>
          </a:xfrm>
          <a:prstGeom prst="rect">
            <a:avLst/>
          </a:prstGeom>
          <a:noFill/>
        </p:spPr>
        <p:txBody>
          <a:bodyPr wrap="square">
            <a:spAutoFit/>
          </a:bodyPr>
          <a:lstStyle/>
          <a:p>
            <a:pPr algn="ctr"/>
            <a:r>
              <a:rPr sz="1200" b="1" i="0">
                <a:solidFill>
                  <a:srgbClr val="FFFFFF"/>
                </a:solidFill>
              </a:rPr>
              <a:t>35s</a:t>
            </a:r>
          </a:p>
        </p:txBody>
      </p:sp>
      <p:sp>
        <p:nvSpPr>
          <p:cNvPr id="28" name="TextBox 27"/>
          <p:cNvSpPr txBox="1"/>
          <p:nvPr/>
        </p:nvSpPr>
        <p:spPr>
          <a:xfrm>
            <a:off x="1051560" y="3904488"/>
            <a:ext cx="1920240" cy="411480"/>
          </a:xfrm>
          <a:prstGeom prst="rect">
            <a:avLst/>
          </a:prstGeom>
          <a:noFill/>
        </p:spPr>
        <p:txBody>
          <a:bodyPr wrap="square">
            <a:spAutoFit/>
          </a:bodyPr>
          <a:lstStyle/>
          <a:p>
            <a:pPr algn="l"/>
            <a:r>
              <a:rPr sz="1100" b="1" i="0">
                <a:solidFill>
                  <a:srgbClr val="6B2D8B"/>
                </a:solidFill>
              </a:rPr>
              <a:t>news_creative</a:t>
            </a:r>
          </a:p>
        </p:txBody>
      </p:sp>
      <p:sp>
        <p:nvSpPr>
          <p:cNvPr id="29" name="TextBox 28"/>
          <p:cNvSpPr txBox="1"/>
          <p:nvPr/>
        </p:nvSpPr>
        <p:spPr>
          <a:xfrm>
            <a:off x="3108960" y="3904488"/>
            <a:ext cx="8686800" cy="457200"/>
          </a:xfrm>
          <a:prstGeom prst="rect">
            <a:avLst/>
          </a:prstGeom>
          <a:noFill/>
        </p:spPr>
        <p:txBody>
          <a:bodyPr wrap="square">
            <a:spAutoFit/>
          </a:bodyPr>
          <a:lstStyle/>
          <a:p>
            <a:pPr algn="l"/>
            <a:r>
              <a:rPr sz="1100" b="0" i="0">
                <a:solidFill>
                  <a:srgbClr val="1A1A2E"/>
                </a:solidFill>
              </a:rPr>
              <a:t>Sonnet: 800-word SEO article
'8,212 Projects Got RERA Notices...'</a:t>
            </a:r>
          </a:p>
        </p:txBody>
      </p:sp>
      <p:sp>
        <p:nvSpPr>
          <p:cNvPr id="30" name="Rectangle 29"/>
          <p:cNvSpPr/>
          <p:nvPr/>
        </p:nvSpPr>
        <p:spPr>
          <a:xfrm>
            <a:off x="566928" y="4389120"/>
            <a:ext cx="109728" cy="10972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4480560"/>
            <a:ext cx="59436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4480560"/>
            <a:ext cx="594360" cy="502920"/>
          </a:xfrm>
          <a:prstGeom prst="rect">
            <a:avLst/>
          </a:prstGeom>
          <a:noFill/>
        </p:spPr>
        <p:txBody>
          <a:bodyPr wrap="square">
            <a:spAutoFit/>
          </a:bodyPr>
          <a:lstStyle/>
          <a:p>
            <a:pPr algn="ctr"/>
            <a:r>
              <a:rPr sz="1200" b="1" i="0">
                <a:solidFill>
                  <a:srgbClr val="FFFFFF"/>
                </a:solidFill>
              </a:rPr>
              <a:t>53s</a:t>
            </a:r>
          </a:p>
        </p:txBody>
      </p:sp>
      <p:sp>
        <p:nvSpPr>
          <p:cNvPr id="33" name="TextBox 32"/>
          <p:cNvSpPr txBox="1"/>
          <p:nvPr/>
        </p:nvSpPr>
        <p:spPr>
          <a:xfrm>
            <a:off x="1051560" y="4498848"/>
            <a:ext cx="1920240" cy="411480"/>
          </a:xfrm>
          <a:prstGeom prst="rect">
            <a:avLst/>
          </a:prstGeom>
          <a:noFill/>
        </p:spPr>
        <p:txBody>
          <a:bodyPr wrap="square">
            <a:spAutoFit/>
          </a:bodyPr>
          <a:lstStyle/>
          <a:p>
            <a:pPr algn="l"/>
            <a:r>
              <a:rPr sz="1100" b="1" i="0">
                <a:solidFill>
                  <a:srgbClr val="6B2D8B"/>
                </a:solidFill>
              </a:rPr>
              <a:t>platform_agents ×5</a:t>
            </a:r>
          </a:p>
        </p:txBody>
      </p:sp>
      <p:sp>
        <p:nvSpPr>
          <p:cNvPr id="34" name="TextBox 33"/>
          <p:cNvSpPr txBox="1"/>
          <p:nvPr/>
        </p:nvSpPr>
        <p:spPr>
          <a:xfrm>
            <a:off x="3108960" y="4498848"/>
            <a:ext cx="8686800" cy="457200"/>
          </a:xfrm>
          <a:prstGeom prst="rect">
            <a:avLst/>
          </a:prstGeom>
          <a:noFill/>
        </p:spPr>
        <p:txBody>
          <a:bodyPr wrap="square">
            <a:spAutoFit/>
          </a:bodyPr>
          <a:lstStyle/>
          <a:p>
            <a:pPr algn="l"/>
            <a:r>
              <a:rPr sz="1100" b="0" i="0">
                <a:solidFill>
                  <a:srgbClr val="1A1A2E"/>
                </a:solidFill>
              </a:rPr>
              <a:t>Async: Twitter thread (4 parts)
+ Instagram (5 story slides + reel)
+ YouTube Short + Housing News</a:t>
            </a:r>
          </a:p>
        </p:txBody>
      </p:sp>
      <p:sp>
        <p:nvSpPr>
          <p:cNvPr id="35" name="Rectangle 34"/>
          <p:cNvSpPr/>
          <p:nvPr/>
        </p:nvSpPr>
        <p:spPr>
          <a:xfrm>
            <a:off x="566928" y="4983480"/>
            <a:ext cx="109728" cy="109728"/>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5074920"/>
            <a:ext cx="59436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5074920"/>
            <a:ext cx="594360" cy="502920"/>
          </a:xfrm>
          <a:prstGeom prst="rect">
            <a:avLst/>
          </a:prstGeom>
          <a:noFill/>
        </p:spPr>
        <p:txBody>
          <a:bodyPr wrap="square">
            <a:spAutoFit/>
          </a:bodyPr>
          <a:lstStyle/>
          <a:p>
            <a:pPr algn="ctr"/>
            <a:r>
              <a:rPr sz="1200" b="1" i="0">
                <a:solidFill>
                  <a:srgbClr val="FFFFFF"/>
                </a:solidFill>
              </a:rPr>
              <a:t>71s</a:t>
            </a:r>
          </a:p>
        </p:txBody>
      </p:sp>
      <p:sp>
        <p:nvSpPr>
          <p:cNvPr id="38" name="TextBox 37"/>
          <p:cNvSpPr txBox="1"/>
          <p:nvPr/>
        </p:nvSpPr>
        <p:spPr>
          <a:xfrm>
            <a:off x="1051560" y="5093208"/>
            <a:ext cx="1920240" cy="411480"/>
          </a:xfrm>
          <a:prstGeom prst="rect">
            <a:avLst/>
          </a:prstGeom>
          <a:noFill/>
        </p:spPr>
        <p:txBody>
          <a:bodyPr wrap="square">
            <a:spAutoFit/>
          </a:bodyPr>
          <a:lstStyle/>
          <a:p>
            <a:pPr algn="l"/>
            <a:r>
              <a:rPr sz="1100" b="1" i="0">
                <a:solidFill>
                  <a:srgbClr val="6B2D8B"/>
                </a:solidFill>
              </a:rPr>
              <a:t>qa_agent</a:t>
            </a:r>
          </a:p>
        </p:txBody>
      </p:sp>
      <p:sp>
        <p:nvSpPr>
          <p:cNvPr id="39" name="TextBox 38"/>
          <p:cNvSpPr txBox="1"/>
          <p:nvPr/>
        </p:nvSpPr>
        <p:spPr>
          <a:xfrm>
            <a:off x="3108960" y="5093208"/>
            <a:ext cx="8686800" cy="457200"/>
          </a:xfrm>
          <a:prstGeom prst="rect">
            <a:avLst/>
          </a:prstGeom>
          <a:noFill/>
        </p:spPr>
        <p:txBody>
          <a:bodyPr wrap="square">
            <a:spAutoFit/>
          </a:bodyPr>
          <a:lstStyle/>
          <a:p>
            <a:pPr algn="l"/>
            <a:r>
              <a:rPr sz="1100" b="0" i="0">
                <a:solidFill>
                  <a:srgbClr val="1A1A2E"/>
                </a:solidFill>
              </a:rPr>
              <a:t>Safety: PASS  ·  Quality: 6.4–8.0/10
Engagement: 5.7%–7.15% predicted</a:t>
            </a:r>
          </a:p>
        </p:txBody>
      </p:sp>
      <p:sp>
        <p:nvSpPr>
          <p:cNvPr id="40" name="Rectangle 39"/>
          <p:cNvSpPr/>
          <p:nvPr/>
        </p:nvSpPr>
        <p:spPr>
          <a:xfrm>
            <a:off x="566928" y="5577840"/>
            <a:ext cx="109728" cy="1097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5669279"/>
            <a:ext cx="59436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5669279"/>
            <a:ext cx="594360" cy="502920"/>
          </a:xfrm>
          <a:prstGeom prst="rect">
            <a:avLst/>
          </a:prstGeom>
          <a:noFill/>
        </p:spPr>
        <p:txBody>
          <a:bodyPr wrap="square">
            <a:spAutoFit/>
          </a:bodyPr>
          <a:lstStyle/>
          <a:p>
            <a:pPr algn="ctr"/>
            <a:r>
              <a:rPr sz="1200" b="1" i="0">
                <a:solidFill>
                  <a:srgbClr val="FFFFFF"/>
                </a:solidFill>
              </a:rPr>
              <a:t>97s</a:t>
            </a:r>
          </a:p>
        </p:txBody>
      </p:sp>
      <p:sp>
        <p:nvSpPr>
          <p:cNvPr id="43" name="TextBox 42"/>
          <p:cNvSpPr txBox="1"/>
          <p:nvPr/>
        </p:nvSpPr>
        <p:spPr>
          <a:xfrm>
            <a:off x="1051560" y="5687567"/>
            <a:ext cx="1920240" cy="411480"/>
          </a:xfrm>
          <a:prstGeom prst="rect">
            <a:avLst/>
          </a:prstGeom>
          <a:noFill/>
        </p:spPr>
        <p:txBody>
          <a:bodyPr wrap="square">
            <a:spAutoFit/>
          </a:bodyPr>
          <a:lstStyle/>
          <a:p>
            <a:pPr algn="l"/>
            <a:r>
              <a:rPr sz="1100" b="1" i="0">
                <a:solidFill>
                  <a:srgbClr val="6B2D8B"/>
                </a:solidFill>
              </a:rPr>
              <a:t>publisher</a:t>
            </a:r>
          </a:p>
        </p:txBody>
      </p:sp>
      <p:sp>
        <p:nvSpPr>
          <p:cNvPr id="44" name="TextBox 43"/>
          <p:cNvSpPr txBox="1"/>
          <p:nvPr/>
        </p:nvSpPr>
        <p:spPr>
          <a:xfrm>
            <a:off x="3108960" y="5687567"/>
            <a:ext cx="8686800" cy="457200"/>
          </a:xfrm>
          <a:prstGeom prst="rect">
            <a:avLst/>
          </a:prstGeom>
          <a:noFill/>
        </p:spPr>
        <p:txBody>
          <a:bodyPr wrap="square">
            <a:spAutoFit/>
          </a:bodyPr>
          <a:lstStyle/>
          <a:p>
            <a:pPr algn="l"/>
            <a:r>
              <a:rPr sz="1100" b="0" i="0">
                <a:solidFill>
                  <a:srgbClr val="1A1A2E"/>
                </a:solidFill>
              </a:rPr>
              <a:t>4 posts saved (dry run)
2 internal links per post  ·  Slack summary sent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0"/>
            <a:ext cx="12188952"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87552"/>
            <a:ext cx="10972800" cy="384048"/>
          </a:xfrm>
          <a:prstGeom prst="rect">
            <a:avLst/>
          </a:prstGeom>
          <a:noFill/>
        </p:spPr>
        <p:txBody>
          <a:bodyPr wrap="square">
            <a:spAutoFit/>
          </a:bodyPr>
          <a:lstStyle/>
          <a:p>
            <a:pPr algn="l"/>
            <a:r>
              <a:rPr sz="2000" b="1" i="0">
                <a:solidFill>
                  <a:srgbClr val="FFFFFF"/>
                </a:solidFill>
              </a:rPr>
              <a:t>Roadmap: What's Next</a:t>
            </a:r>
          </a:p>
        </p:txBody>
      </p:sp>
      <p:sp>
        <p:nvSpPr>
          <p:cNvPr id="4" name="TextBox 3"/>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18</a:t>
            </a:r>
          </a:p>
        </p:txBody>
      </p:sp>
      <p:sp>
        <p:nvSpPr>
          <p:cNvPr id="5" name="TextBox 4"/>
          <p:cNvSpPr txBox="1"/>
          <p:nvPr/>
        </p:nvSpPr>
        <p:spPr>
          <a:xfrm>
            <a:off x="274320" y="6537960"/>
            <a:ext cx="3657600" cy="274320"/>
          </a:xfrm>
          <a:prstGeom prst="rect">
            <a:avLst/>
          </a:prstGeom>
          <a:noFill/>
        </p:spPr>
        <p:txBody>
          <a:bodyPr wrap="square">
            <a:spAutoFit/>
          </a:bodyPr>
          <a:lstStyle/>
          <a:p>
            <a:pPr algn="l"/>
            <a:r>
              <a:rPr sz="1000" b="0" i="1">
                <a:solidFill>
                  <a:srgbClr val="CCCCCC"/>
                </a:solidFill>
              </a:rPr>
              <a:t>Housing.com  ×  Multi-Agent AI</a:t>
            </a:r>
          </a:p>
        </p:txBody>
      </p:sp>
      <p:sp>
        <p:nvSpPr>
          <p:cNvPr id="6" name="Rectangle 5"/>
          <p:cNvSpPr/>
          <p:nvPr/>
        </p:nvSpPr>
        <p:spPr>
          <a:xfrm>
            <a:off x="365760" y="160020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45920"/>
            <a:ext cx="3657600" cy="411480"/>
          </a:xfrm>
          <a:prstGeom prst="rect">
            <a:avLst/>
          </a:prstGeom>
          <a:noFill/>
        </p:spPr>
        <p:txBody>
          <a:bodyPr wrap="square">
            <a:spAutoFit/>
          </a:bodyPr>
          <a:lstStyle/>
          <a:p>
            <a:pPr algn="ctr"/>
            <a:r>
              <a:rPr sz="1400" b="1" i="0">
                <a:solidFill>
                  <a:srgbClr val="FFFFFF"/>
                </a:solidFill>
              </a:rPr>
              <a:t>Now  ✅
Hackathon Demo</a:t>
            </a:r>
          </a:p>
        </p:txBody>
      </p:sp>
      <p:sp>
        <p:nvSpPr>
          <p:cNvPr id="8" name="Rectangle 7"/>
          <p:cNvSpPr/>
          <p:nvPr/>
        </p:nvSpPr>
        <p:spPr>
          <a:xfrm>
            <a:off x="502920" y="2304288"/>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108960" cy="548640"/>
          </a:xfrm>
          <a:prstGeom prst="rect">
            <a:avLst/>
          </a:prstGeom>
          <a:noFill/>
        </p:spPr>
        <p:txBody>
          <a:bodyPr wrap="square">
            <a:spAutoFit/>
          </a:bodyPr>
          <a:lstStyle/>
          <a:p>
            <a:pPr algn="l"/>
            <a:r>
              <a:rPr sz="1200" b="0" i="0">
                <a:solidFill>
                  <a:srgbClr val="1A1A2E"/>
                </a:solidFill>
              </a:rPr>
              <a:t>5-platform auto-publish</a:t>
            </a:r>
          </a:p>
        </p:txBody>
      </p:sp>
      <p:sp>
        <p:nvSpPr>
          <p:cNvPr id="10" name="Rectangle 9"/>
          <p:cNvSpPr/>
          <p:nvPr/>
        </p:nvSpPr>
        <p:spPr>
          <a:xfrm>
            <a:off x="502920" y="2926080"/>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16352"/>
            <a:ext cx="3108960" cy="548640"/>
          </a:xfrm>
          <a:prstGeom prst="rect">
            <a:avLst/>
          </a:prstGeom>
          <a:noFill/>
        </p:spPr>
        <p:txBody>
          <a:bodyPr wrap="square">
            <a:spAutoFit/>
          </a:bodyPr>
          <a:lstStyle/>
          <a:p>
            <a:pPr algn="l"/>
            <a:r>
              <a:rPr sz="1200" b="0" i="0">
                <a:solidFill>
                  <a:srgbClr val="1A1A2E"/>
                </a:solidFill>
              </a:rPr>
              <a:t>3-pass QA engine</a:t>
            </a:r>
          </a:p>
        </p:txBody>
      </p:sp>
      <p:sp>
        <p:nvSpPr>
          <p:cNvPr id="12" name="Rectangle 11"/>
          <p:cNvSpPr/>
          <p:nvPr/>
        </p:nvSpPr>
        <p:spPr>
          <a:xfrm>
            <a:off x="502920" y="3547872"/>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38144"/>
            <a:ext cx="3108960" cy="548640"/>
          </a:xfrm>
          <a:prstGeom prst="rect">
            <a:avLst/>
          </a:prstGeom>
          <a:noFill/>
        </p:spPr>
        <p:txBody>
          <a:bodyPr wrap="square">
            <a:spAutoFit/>
          </a:bodyPr>
          <a:lstStyle/>
          <a:p>
            <a:pPr algn="l"/>
            <a:r>
              <a:rPr sz="1200" b="0" i="0">
                <a:solidFill>
                  <a:srgbClr val="1A1A2E"/>
                </a:solidFill>
              </a:rPr>
              <a:t>Hinglish social + SEO news</a:t>
            </a:r>
          </a:p>
        </p:txBody>
      </p:sp>
      <p:sp>
        <p:nvSpPr>
          <p:cNvPr id="14" name="Rectangle 13"/>
          <p:cNvSpPr/>
          <p:nvPr/>
        </p:nvSpPr>
        <p:spPr>
          <a:xfrm>
            <a:off x="502920" y="4169663"/>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59935"/>
            <a:ext cx="3108960" cy="548640"/>
          </a:xfrm>
          <a:prstGeom prst="rect">
            <a:avLst/>
          </a:prstGeom>
          <a:noFill/>
        </p:spPr>
        <p:txBody>
          <a:bodyPr wrap="square">
            <a:spAutoFit/>
          </a:bodyPr>
          <a:lstStyle/>
          <a:p>
            <a:pPr algn="l"/>
            <a:r>
              <a:rPr sz="1200" b="0" i="0">
                <a:solidFill>
                  <a:srgbClr val="1A1A2E"/>
                </a:solidFill>
              </a:rPr>
              <a:t>Slack bot trigger</a:t>
            </a:r>
          </a:p>
        </p:txBody>
      </p:sp>
      <p:sp>
        <p:nvSpPr>
          <p:cNvPr id="16" name="Rectangle 15"/>
          <p:cNvSpPr/>
          <p:nvPr/>
        </p:nvSpPr>
        <p:spPr>
          <a:xfrm>
            <a:off x="502920" y="4791456"/>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681728"/>
            <a:ext cx="3108960" cy="548640"/>
          </a:xfrm>
          <a:prstGeom prst="rect">
            <a:avLst/>
          </a:prstGeom>
          <a:noFill/>
        </p:spPr>
        <p:txBody>
          <a:bodyPr wrap="square">
            <a:spAutoFit/>
          </a:bodyPr>
          <a:lstStyle/>
          <a:p>
            <a:pPr algn="l"/>
            <a:r>
              <a:rPr sz="1200" b="0" i="0">
                <a:solidFill>
                  <a:srgbClr val="1A1A2E"/>
                </a:solidFill>
              </a:rPr>
              <a:t>Engagement prediction</a:t>
            </a:r>
          </a:p>
        </p:txBody>
      </p:sp>
      <p:sp>
        <p:nvSpPr>
          <p:cNvPr id="18" name="Rectangle 17"/>
          <p:cNvSpPr/>
          <p:nvPr/>
        </p:nvSpPr>
        <p:spPr>
          <a:xfrm>
            <a:off x="502920" y="5413248"/>
            <a:ext cx="164592" cy="1645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303520"/>
            <a:ext cx="3108960" cy="548640"/>
          </a:xfrm>
          <a:prstGeom prst="rect">
            <a:avLst/>
          </a:prstGeom>
          <a:noFill/>
        </p:spPr>
        <p:txBody>
          <a:bodyPr wrap="square">
            <a:spAutoFit/>
          </a:bodyPr>
          <a:lstStyle/>
          <a:p>
            <a:pPr algn="l"/>
            <a:r>
              <a:rPr sz="1200" b="0" i="0">
                <a:solidFill>
                  <a:srgbClr val="1A1A2E"/>
                </a:solidFill>
              </a:rPr>
              <a:t>2 min end-to-end runtime</a:t>
            </a:r>
          </a:p>
        </p:txBody>
      </p:sp>
      <p:sp>
        <p:nvSpPr>
          <p:cNvPr id="20" name="Rectangle 19"/>
          <p:cNvSpPr/>
          <p:nvPr/>
        </p:nvSpPr>
        <p:spPr>
          <a:xfrm>
            <a:off x="4279392" y="1600200"/>
            <a:ext cx="3657600" cy="5029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79392" y="1645920"/>
            <a:ext cx="3657600" cy="411480"/>
          </a:xfrm>
          <a:prstGeom prst="rect">
            <a:avLst/>
          </a:prstGeom>
          <a:noFill/>
        </p:spPr>
        <p:txBody>
          <a:bodyPr wrap="square">
            <a:spAutoFit/>
          </a:bodyPr>
          <a:lstStyle/>
          <a:p>
            <a:pPr algn="ctr"/>
            <a:r>
              <a:rPr sz="1400" b="1" i="0">
                <a:solidFill>
                  <a:srgbClr val="FFFFFF"/>
                </a:solidFill>
              </a:rPr>
              <a:t>Month 1–2
Production Deploy</a:t>
            </a:r>
          </a:p>
        </p:txBody>
      </p:sp>
      <p:sp>
        <p:nvSpPr>
          <p:cNvPr id="22" name="Rectangle 21"/>
          <p:cNvSpPr/>
          <p:nvPr/>
        </p:nvSpPr>
        <p:spPr>
          <a:xfrm>
            <a:off x="4416552" y="2304288"/>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0872" y="2194560"/>
            <a:ext cx="3108960" cy="548640"/>
          </a:xfrm>
          <a:prstGeom prst="rect">
            <a:avLst/>
          </a:prstGeom>
          <a:noFill/>
        </p:spPr>
        <p:txBody>
          <a:bodyPr wrap="square">
            <a:spAutoFit/>
          </a:bodyPr>
          <a:lstStyle/>
          <a:p>
            <a:pPr algn="l"/>
            <a:r>
              <a:rPr sz="1200" b="0" i="0">
                <a:solidFill>
                  <a:srgbClr val="1A1A2E"/>
                </a:solidFill>
              </a:rPr>
              <a:t>Live posting to all 5 platforms</a:t>
            </a:r>
          </a:p>
        </p:txBody>
      </p:sp>
      <p:sp>
        <p:nvSpPr>
          <p:cNvPr id="24" name="Rectangle 23"/>
          <p:cNvSpPr/>
          <p:nvPr/>
        </p:nvSpPr>
        <p:spPr>
          <a:xfrm>
            <a:off x="4416552" y="2926080"/>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0872" y="2816352"/>
            <a:ext cx="3108960" cy="548640"/>
          </a:xfrm>
          <a:prstGeom prst="rect">
            <a:avLst/>
          </a:prstGeom>
          <a:noFill/>
        </p:spPr>
        <p:txBody>
          <a:bodyPr wrap="square">
            <a:spAutoFit/>
          </a:bodyPr>
          <a:lstStyle/>
          <a:p>
            <a:pPr algn="l"/>
            <a:r>
              <a:rPr sz="1200" b="0" i="0">
                <a:solidFill>
                  <a:srgbClr val="1A1A2E"/>
                </a:solidFill>
              </a:rPr>
              <a:t>Human-in-the-loop approval UI</a:t>
            </a:r>
          </a:p>
        </p:txBody>
      </p:sp>
      <p:sp>
        <p:nvSpPr>
          <p:cNvPr id="26" name="Rectangle 25"/>
          <p:cNvSpPr/>
          <p:nvPr/>
        </p:nvSpPr>
        <p:spPr>
          <a:xfrm>
            <a:off x="4416552" y="3547872"/>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90872" y="3438144"/>
            <a:ext cx="3108960" cy="548640"/>
          </a:xfrm>
          <a:prstGeom prst="rect">
            <a:avLst/>
          </a:prstGeom>
          <a:noFill/>
        </p:spPr>
        <p:txBody>
          <a:bodyPr wrap="square">
            <a:spAutoFit/>
          </a:bodyPr>
          <a:lstStyle/>
          <a:p>
            <a:pPr algn="l"/>
            <a:r>
              <a:rPr sz="1200" b="0" i="0">
                <a:solidFill>
                  <a:srgbClr val="1A1A2E"/>
                </a:solidFill>
              </a:rPr>
              <a:t>PostgresSaver for multi-worker</a:t>
            </a:r>
          </a:p>
        </p:txBody>
      </p:sp>
      <p:sp>
        <p:nvSpPr>
          <p:cNvPr id="28" name="Rectangle 27"/>
          <p:cNvSpPr/>
          <p:nvPr/>
        </p:nvSpPr>
        <p:spPr>
          <a:xfrm>
            <a:off x="4416552" y="4169663"/>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0872" y="4059935"/>
            <a:ext cx="3108960" cy="548640"/>
          </a:xfrm>
          <a:prstGeom prst="rect">
            <a:avLst/>
          </a:prstGeom>
          <a:noFill/>
        </p:spPr>
        <p:txBody>
          <a:bodyPr wrap="square">
            <a:spAutoFit/>
          </a:bodyPr>
          <a:lstStyle/>
          <a:p>
            <a:pPr algn="l"/>
            <a:r>
              <a:rPr sz="1200" b="0" i="0">
                <a:solidFill>
                  <a:srgbClr val="1A1A2E"/>
                </a:solidFill>
              </a:rPr>
              <a:t>A/B model routing testing</a:t>
            </a:r>
          </a:p>
        </p:txBody>
      </p:sp>
      <p:sp>
        <p:nvSpPr>
          <p:cNvPr id="30" name="Rectangle 29"/>
          <p:cNvSpPr/>
          <p:nvPr/>
        </p:nvSpPr>
        <p:spPr>
          <a:xfrm>
            <a:off x="4416552" y="4791456"/>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0872" y="4681728"/>
            <a:ext cx="3108960" cy="548640"/>
          </a:xfrm>
          <a:prstGeom prst="rect">
            <a:avLst/>
          </a:prstGeom>
          <a:noFill/>
        </p:spPr>
        <p:txBody>
          <a:bodyPr wrap="square">
            <a:spAutoFit/>
          </a:bodyPr>
          <a:lstStyle/>
          <a:p>
            <a:pPr algn="l"/>
            <a:r>
              <a:rPr sz="1200" b="0" i="0">
                <a:solidFill>
                  <a:srgbClr val="1A1A2E"/>
                </a:solidFill>
              </a:rPr>
              <a:t>Hooks bank weekly refresh</a:t>
            </a:r>
          </a:p>
        </p:txBody>
      </p:sp>
      <p:sp>
        <p:nvSpPr>
          <p:cNvPr id="32" name="Rectangle 31"/>
          <p:cNvSpPr/>
          <p:nvPr/>
        </p:nvSpPr>
        <p:spPr>
          <a:xfrm>
            <a:off x="4416552" y="5413248"/>
            <a:ext cx="164592" cy="164592"/>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90872" y="5303520"/>
            <a:ext cx="3108960" cy="548640"/>
          </a:xfrm>
          <a:prstGeom prst="rect">
            <a:avLst/>
          </a:prstGeom>
          <a:noFill/>
        </p:spPr>
        <p:txBody>
          <a:bodyPr wrap="square">
            <a:spAutoFit/>
          </a:bodyPr>
          <a:lstStyle/>
          <a:p>
            <a:pPr algn="l"/>
            <a:r>
              <a:rPr sz="1200" b="0" i="0">
                <a:solidFill>
                  <a:srgbClr val="1A1A2E"/>
                </a:solidFill>
              </a:rPr>
              <a:t>Monitoring + alerting dashboard</a:t>
            </a:r>
          </a:p>
        </p:txBody>
      </p:sp>
      <p:sp>
        <p:nvSpPr>
          <p:cNvPr id="34" name="Rectangle 33"/>
          <p:cNvSpPr/>
          <p:nvPr/>
        </p:nvSpPr>
        <p:spPr>
          <a:xfrm>
            <a:off x="8193024" y="1600200"/>
            <a:ext cx="3657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93024" y="1645920"/>
            <a:ext cx="3657600" cy="411480"/>
          </a:xfrm>
          <a:prstGeom prst="rect">
            <a:avLst/>
          </a:prstGeom>
          <a:noFill/>
        </p:spPr>
        <p:txBody>
          <a:bodyPr wrap="square">
            <a:spAutoFit/>
          </a:bodyPr>
          <a:lstStyle/>
          <a:p>
            <a:pPr algn="ctr"/>
            <a:r>
              <a:rPr sz="1400" b="1" i="0">
                <a:solidFill>
                  <a:srgbClr val="FFFFFF"/>
                </a:solidFill>
              </a:rPr>
              <a:t>Month 3–6
Scale &amp; Intelligence</a:t>
            </a:r>
          </a:p>
        </p:txBody>
      </p:sp>
      <p:sp>
        <p:nvSpPr>
          <p:cNvPr id="36" name="Rectangle 35"/>
          <p:cNvSpPr/>
          <p:nvPr/>
        </p:nvSpPr>
        <p:spPr>
          <a:xfrm>
            <a:off x="8330184" y="2304288"/>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04504" y="2194560"/>
            <a:ext cx="3108960" cy="548640"/>
          </a:xfrm>
          <a:prstGeom prst="rect">
            <a:avLst/>
          </a:prstGeom>
          <a:noFill/>
        </p:spPr>
        <p:txBody>
          <a:bodyPr wrap="square">
            <a:spAutoFit/>
          </a:bodyPr>
          <a:lstStyle/>
          <a:p>
            <a:pPr algn="l"/>
            <a:r>
              <a:rPr sz="1200" b="0" i="0">
                <a:solidFill>
                  <a:srgbClr val="1A1A2E"/>
                </a:solidFill>
              </a:rPr>
              <a:t>Vernacular expansion (Hindi, Tamil, Telugu)</a:t>
            </a:r>
          </a:p>
        </p:txBody>
      </p:sp>
      <p:sp>
        <p:nvSpPr>
          <p:cNvPr id="38" name="Rectangle 37"/>
          <p:cNvSpPr/>
          <p:nvPr/>
        </p:nvSpPr>
        <p:spPr>
          <a:xfrm>
            <a:off x="8330184" y="2926080"/>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04504" y="2816352"/>
            <a:ext cx="3108960" cy="548640"/>
          </a:xfrm>
          <a:prstGeom prst="rect">
            <a:avLst/>
          </a:prstGeom>
          <a:noFill/>
        </p:spPr>
        <p:txBody>
          <a:bodyPr wrap="square">
            <a:spAutoFit/>
          </a:bodyPr>
          <a:lstStyle/>
          <a:p>
            <a:pPr algn="l"/>
            <a:r>
              <a:rPr sz="1200" b="0" i="0">
                <a:solidFill>
                  <a:srgbClr val="1A1A2E"/>
                </a:solidFill>
              </a:rPr>
              <a:t>Video generation (Sora API)</a:t>
            </a:r>
          </a:p>
        </p:txBody>
      </p:sp>
      <p:sp>
        <p:nvSpPr>
          <p:cNvPr id="40" name="Rectangle 39"/>
          <p:cNvSpPr/>
          <p:nvPr/>
        </p:nvSpPr>
        <p:spPr>
          <a:xfrm>
            <a:off x="8330184" y="3547872"/>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4504" y="3438144"/>
            <a:ext cx="3108960" cy="548640"/>
          </a:xfrm>
          <a:prstGeom prst="rect">
            <a:avLst/>
          </a:prstGeom>
          <a:noFill/>
        </p:spPr>
        <p:txBody>
          <a:bodyPr wrap="square">
            <a:spAutoFit/>
          </a:bodyPr>
          <a:lstStyle/>
          <a:p>
            <a:pPr algn="l"/>
            <a:r>
              <a:rPr sz="1200" b="0" i="0">
                <a:solidFill>
                  <a:srgbClr val="1A1A2E"/>
                </a:solidFill>
              </a:rPr>
              <a:t>Personalized city microsites</a:t>
            </a:r>
          </a:p>
        </p:txBody>
      </p:sp>
      <p:sp>
        <p:nvSpPr>
          <p:cNvPr id="42" name="Rectangle 41"/>
          <p:cNvSpPr/>
          <p:nvPr/>
        </p:nvSpPr>
        <p:spPr>
          <a:xfrm>
            <a:off x="8330184" y="4169663"/>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04504" y="4059935"/>
            <a:ext cx="3108960" cy="548640"/>
          </a:xfrm>
          <a:prstGeom prst="rect">
            <a:avLst/>
          </a:prstGeom>
          <a:noFill/>
        </p:spPr>
        <p:txBody>
          <a:bodyPr wrap="square">
            <a:spAutoFit/>
          </a:bodyPr>
          <a:lstStyle/>
          <a:p>
            <a:pPr algn="l"/>
            <a:r>
              <a:rPr sz="1200" b="0" i="0">
                <a:solidFill>
                  <a:srgbClr val="1A1A2E"/>
                </a:solidFill>
              </a:rPr>
              <a:t>Builder partnership content</a:t>
            </a:r>
          </a:p>
        </p:txBody>
      </p:sp>
      <p:sp>
        <p:nvSpPr>
          <p:cNvPr id="44" name="Rectangle 43"/>
          <p:cNvSpPr/>
          <p:nvPr/>
        </p:nvSpPr>
        <p:spPr>
          <a:xfrm>
            <a:off x="8330184" y="4791456"/>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04504" y="4681728"/>
            <a:ext cx="3108960" cy="548640"/>
          </a:xfrm>
          <a:prstGeom prst="rect">
            <a:avLst/>
          </a:prstGeom>
          <a:noFill/>
        </p:spPr>
        <p:txBody>
          <a:bodyPr wrap="square">
            <a:spAutoFit/>
          </a:bodyPr>
          <a:lstStyle/>
          <a:p>
            <a:pPr algn="l"/>
            <a:r>
              <a:rPr sz="1200" b="0" i="0">
                <a:solidFill>
                  <a:srgbClr val="1A1A2E"/>
                </a:solidFill>
              </a:rPr>
              <a:t>Engagement prediction V2 (trained on real data)</a:t>
            </a:r>
          </a:p>
        </p:txBody>
      </p:sp>
      <p:sp>
        <p:nvSpPr>
          <p:cNvPr id="46" name="Rectangle 45"/>
          <p:cNvSpPr/>
          <p:nvPr/>
        </p:nvSpPr>
        <p:spPr>
          <a:xfrm>
            <a:off x="8330184" y="5413248"/>
            <a:ext cx="164592"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04504" y="5303520"/>
            <a:ext cx="3108960" cy="548640"/>
          </a:xfrm>
          <a:prstGeom prst="rect">
            <a:avLst/>
          </a:prstGeom>
          <a:noFill/>
        </p:spPr>
        <p:txBody>
          <a:bodyPr wrap="square">
            <a:spAutoFit/>
          </a:bodyPr>
          <a:lstStyle/>
          <a:p>
            <a:pPr algn="l"/>
            <a:r>
              <a:rPr sz="1200" b="0" i="0">
                <a:solidFill>
                  <a:srgbClr val="1A1A2E"/>
                </a:solidFill>
              </a:rPr>
              <a:t>WhatsApp channel integration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3A1055"/>
        </a:solidFill>
        <a:effectLst/>
      </p:bgPr>
    </p:bg>
    <p:spTree>
      <p:nvGrpSpPr>
        <p:cNvPr id="1" name=""/>
        <p:cNvGrpSpPr/>
        <p:nvPr/>
      </p:nvGrpSpPr>
      <p:grpSpPr/>
      <p:sp>
        <p:nvSpPr>
          <p:cNvPr id="2" name="TextBox 1"/>
          <p:cNvSpPr txBox="1"/>
          <p:nvPr/>
        </p:nvSpPr>
        <p:spPr>
          <a:xfrm>
            <a:off x="11704320" y="6492240"/>
            <a:ext cx="457200" cy="320040"/>
          </a:xfrm>
          <a:prstGeom prst="rect">
            <a:avLst/>
          </a:prstGeom>
          <a:noFill/>
        </p:spPr>
        <p:txBody>
          <a:bodyPr wrap="square">
            <a:spAutoFit/>
          </a:bodyPr>
          <a:lstStyle/>
          <a:p>
            <a:pPr algn="l"/>
            <a:r>
              <a:rPr sz="1100" b="0" i="0">
                <a:solidFill>
                  <a:srgbClr val="555555"/>
                </a:solidFill>
              </a:rPr>
              <a:t>19</a:t>
            </a:r>
          </a:p>
        </p:txBody>
      </p:sp>
      <p:sp>
        <p:nvSpPr>
          <p:cNvPr id="3" name="TextBox 2"/>
          <p:cNvSpPr txBox="1"/>
          <p:nvPr/>
        </p:nvSpPr>
        <p:spPr>
          <a:xfrm>
            <a:off x="914400" y="1097280"/>
            <a:ext cx="10058400" cy="822960"/>
          </a:xfrm>
          <a:prstGeom prst="rect">
            <a:avLst/>
          </a:prstGeom>
          <a:noFill/>
        </p:spPr>
        <p:txBody>
          <a:bodyPr wrap="square">
            <a:spAutoFit/>
          </a:bodyPr>
          <a:lstStyle/>
          <a:p>
            <a:pPr algn="l"/>
            <a:r>
              <a:rPr sz="4400" b="1" i="0">
                <a:solidFill>
                  <a:srgbClr val="FFFFFF"/>
                </a:solidFill>
              </a:rPr>
              <a:t>The AI Content Engine is live.</a:t>
            </a:r>
          </a:p>
        </p:txBody>
      </p:sp>
      <p:sp>
        <p:nvSpPr>
          <p:cNvPr id="4" name="TextBox 3"/>
          <p:cNvSpPr txBox="1"/>
          <p:nvPr/>
        </p:nvSpPr>
        <p:spPr>
          <a:xfrm>
            <a:off x="914400" y="2011680"/>
            <a:ext cx="10058400" cy="914400"/>
          </a:xfrm>
          <a:prstGeom prst="rect">
            <a:avLst/>
          </a:prstGeom>
          <a:noFill/>
        </p:spPr>
        <p:txBody>
          <a:bodyPr wrap="square">
            <a:spAutoFit/>
          </a:bodyPr>
          <a:lstStyle/>
          <a:p>
            <a:pPr algn="l"/>
            <a:r>
              <a:rPr sz="2400" b="0" i="0">
                <a:solidFill>
                  <a:srgbClr val="E8D5F5"/>
                </a:solidFill>
              </a:rPr>
              <a:t>300 posts/month. ₹14,000/month all-in.
Brand-safe, platform-native, Hinglish-first.</a:t>
            </a:r>
          </a:p>
        </p:txBody>
      </p:sp>
      <p:sp>
        <p:nvSpPr>
          <p:cNvPr id="5" name="Rectangle 4"/>
          <p:cNvSpPr/>
          <p:nvPr/>
        </p:nvSpPr>
        <p:spPr>
          <a:xfrm>
            <a:off x="914400" y="3200400"/>
            <a:ext cx="3200400" cy="173736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291840"/>
            <a:ext cx="2926080" cy="502920"/>
          </a:xfrm>
          <a:prstGeom prst="rect">
            <a:avLst/>
          </a:prstGeom>
          <a:noFill/>
        </p:spPr>
        <p:txBody>
          <a:bodyPr wrap="square">
            <a:spAutoFit/>
          </a:bodyPr>
          <a:lstStyle/>
          <a:p>
            <a:pPr algn="l"/>
            <a:r>
              <a:rPr sz="1800" b="1" i="0">
                <a:solidFill>
                  <a:srgbClr val="FFFFFF"/>
                </a:solidFill>
              </a:rPr>
              <a:t>✅ Deploy Now</a:t>
            </a:r>
          </a:p>
        </p:txBody>
      </p:sp>
      <p:sp>
        <p:nvSpPr>
          <p:cNvPr id="7" name="TextBox 6"/>
          <p:cNvSpPr txBox="1"/>
          <p:nvPr/>
        </p:nvSpPr>
        <p:spPr>
          <a:xfrm>
            <a:off x="1051560" y="3840480"/>
            <a:ext cx="2926080" cy="822960"/>
          </a:xfrm>
          <a:prstGeom prst="rect">
            <a:avLst/>
          </a:prstGeom>
          <a:noFill/>
        </p:spPr>
        <p:txBody>
          <a:bodyPr wrap="square">
            <a:spAutoFit/>
          </a:bodyPr>
          <a:lstStyle/>
          <a:p>
            <a:pPr algn="l"/>
            <a:r>
              <a:rPr sz="1300" b="0" i="0">
                <a:solidFill>
                  <a:srgbClr val="E8D5F5"/>
                </a:solidFill>
              </a:rPr>
              <a:t>DRY_RUN=false + platform keys
→ Live in 30 minutes</a:t>
            </a:r>
          </a:p>
        </p:txBody>
      </p:sp>
      <p:sp>
        <p:nvSpPr>
          <p:cNvPr id="8" name="Rectangle 7"/>
          <p:cNvSpPr/>
          <p:nvPr/>
        </p:nvSpPr>
        <p:spPr>
          <a:xfrm>
            <a:off x="4480560" y="3200400"/>
            <a:ext cx="3200400" cy="173736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291840"/>
            <a:ext cx="2926080" cy="502920"/>
          </a:xfrm>
          <a:prstGeom prst="rect">
            <a:avLst/>
          </a:prstGeom>
          <a:noFill/>
        </p:spPr>
        <p:txBody>
          <a:bodyPr wrap="square">
            <a:spAutoFit/>
          </a:bodyPr>
          <a:lstStyle/>
          <a:p>
            <a:pPr algn="l"/>
            <a:r>
              <a:rPr sz="1800" b="1" i="0">
                <a:solidFill>
                  <a:srgbClr val="FFFFFF"/>
                </a:solidFill>
              </a:rPr>
              <a:t>📊 Pilot 30 days</a:t>
            </a:r>
          </a:p>
        </p:txBody>
      </p:sp>
      <p:sp>
        <p:nvSpPr>
          <p:cNvPr id="10" name="TextBox 9"/>
          <p:cNvSpPr txBox="1"/>
          <p:nvPr/>
        </p:nvSpPr>
        <p:spPr>
          <a:xfrm>
            <a:off x="4617720" y="3840480"/>
            <a:ext cx="2926080" cy="822960"/>
          </a:xfrm>
          <a:prstGeom prst="rect">
            <a:avLst/>
          </a:prstGeom>
          <a:noFill/>
        </p:spPr>
        <p:txBody>
          <a:bodyPr wrap="square">
            <a:spAutoFit/>
          </a:bodyPr>
          <a:lstStyle/>
          <a:p>
            <a:pPr algn="l"/>
            <a:r>
              <a:rPr sz="1300" b="0" i="0">
                <a:solidFill>
                  <a:srgbClr val="E8D5F5"/>
                </a:solidFill>
              </a:rPr>
              <a:t>Run alongside human team
Measure engagement delta</a:t>
            </a:r>
          </a:p>
        </p:txBody>
      </p:sp>
      <p:sp>
        <p:nvSpPr>
          <p:cNvPr id="11" name="Rectangle 10"/>
          <p:cNvSpPr/>
          <p:nvPr/>
        </p:nvSpPr>
        <p:spPr>
          <a:xfrm>
            <a:off x="8046720" y="3200400"/>
            <a:ext cx="3200400" cy="173736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3291840"/>
            <a:ext cx="2926080" cy="502920"/>
          </a:xfrm>
          <a:prstGeom prst="rect">
            <a:avLst/>
          </a:prstGeom>
          <a:noFill/>
        </p:spPr>
        <p:txBody>
          <a:bodyPr wrap="square">
            <a:spAutoFit/>
          </a:bodyPr>
          <a:lstStyle/>
          <a:p>
            <a:pPr algn="l"/>
            <a:r>
              <a:rPr sz="1800" b="1" i="0">
                <a:solidFill>
                  <a:srgbClr val="FFFFFF"/>
                </a:solidFill>
              </a:rPr>
              <a:t>🚀 Scale</a:t>
            </a:r>
          </a:p>
        </p:txBody>
      </p:sp>
      <p:sp>
        <p:nvSpPr>
          <p:cNvPr id="13" name="TextBox 12"/>
          <p:cNvSpPr txBox="1"/>
          <p:nvPr/>
        </p:nvSpPr>
        <p:spPr>
          <a:xfrm>
            <a:off x="8183880" y="3840480"/>
            <a:ext cx="2926080" cy="822960"/>
          </a:xfrm>
          <a:prstGeom prst="rect">
            <a:avLst/>
          </a:prstGeom>
          <a:noFill/>
        </p:spPr>
        <p:txBody>
          <a:bodyPr wrap="square">
            <a:spAutoFit/>
          </a:bodyPr>
          <a:lstStyle/>
          <a:p>
            <a:pPr algn="l"/>
            <a:r>
              <a:rPr sz="1300" b="0" i="0">
                <a:solidFill>
                  <a:srgbClr val="E8D5F5"/>
                </a:solidFill>
              </a:rPr>
              <a:t>Multi-city, multi-language
→ Housing.com #1 PropTech content brand</a:t>
            </a:r>
          </a:p>
        </p:txBody>
      </p:sp>
      <p:sp>
        <p:nvSpPr>
          <p:cNvPr id="14" name="TextBox 13"/>
          <p:cNvSpPr txBox="1"/>
          <p:nvPr/>
        </p:nvSpPr>
        <p:spPr>
          <a:xfrm>
            <a:off x="914400" y="5303520"/>
            <a:ext cx="10058400" cy="457200"/>
          </a:xfrm>
          <a:prstGeom prst="rect">
            <a:avLst/>
          </a:prstGeom>
          <a:noFill/>
        </p:spPr>
        <p:txBody>
          <a:bodyPr wrap="square">
            <a:spAutoFit/>
          </a:bodyPr>
          <a:lstStyle/>
          <a:p>
            <a:pPr algn="l"/>
            <a:r>
              <a:rPr sz="1400" b="1" i="0">
                <a:solidFill>
                  <a:srgbClr val="7BFF8B"/>
                </a:solidFill>
              </a:rPr>
              <a:t>Demo: python main.py run  ·  Output in: output/&lt;run_id&gt;/</a:t>
            </a:r>
          </a:p>
        </p:txBody>
      </p:sp>
      <p:sp>
        <p:nvSpPr>
          <p:cNvPr id="15" name="TextBox 14"/>
          <p:cNvSpPr txBox="1"/>
          <p:nvPr/>
        </p:nvSpPr>
        <p:spPr>
          <a:xfrm>
            <a:off x="914400" y="5943600"/>
            <a:ext cx="10058400" cy="365760"/>
          </a:xfrm>
          <a:prstGeom prst="rect">
            <a:avLst/>
          </a:prstGeom>
          <a:noFill/>
        </p:spPr>
        <p:txBody>
          <a:bodyPr wrap="square">
            <a:spAutoFit/>
          </a:bodyPr>
          <a:lstStyle/>
          <a:p>
            <a:pPr algn="ctr"/>
            <a:r>
              <a:rPr sz="1300" b="0" i="1">
                <a:solidFill>
                  <a:srgbClr val="E8D5F5"/>
                </a:solidFill>
              </a:rPr>
              <a:t>Built at Housing.com Hackathon 2026  ·  Multi-Agent AI Stack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